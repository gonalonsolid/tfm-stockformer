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4" r:id="rId4"/>
    <p:sldMasterId id="2147483698" r:id="rId5"/>
  </p:sldMasterIdLst>
  <p:notesMasterIdLst>
    <p:notesMasterId r:id="rId37"/>
  </p:notesMasterIdLst>
  <p:handoutMasterIdLst>
    <p:handoutMasterId r:id="rId38"/>
  </p:handoutMasterIdLst>
  <p:sldIdLst>
    <p:sldId id="443" r:id="rId6"/>
    <p:sldId id="418" r:id="rId7"/>
    <p:sldId id="405" r:id="rId8"/>
    <p:sldId id="444" r:id="rId9"/>
    <p:sldId id="445" r:id="rId10"/>
    <p:sldId id="406" r:id="rId11"/>
    <p:sldId id="446" r:id="rId12"/>
    <p:sldId id="447" r:id="rId13"/>
    <p:sldId id="448" r:id="rId14"/>
    <p:sldId id="449" r:id="rId15"/>
    <p:sldId id="372" r:id="rId16"/>
    <p:sldId id="450" r:id="rId17"/>
    <p:sldId id="451" r:id="rId18"/>
    <p:sldId id="452" r:id="rId19"/>
    <p:sldId id="407" r:id="rId20"/>
    <p:sldId id="453" r:id="rId21"/>
    <p:sldId id="454" r:id="rId22"/>
    <p:sldId id="408" r:id="rId23"/>
    <p:sldId id="380" r:id="rId24"/>
    <p:sldId id="459" r:id="rId25"/>
    <p:sldId id="382" r:id="rId26"/>
    <p:sldId id="383" r:id="rId27"/>
    <p:sldId id="409" r:id="rId28"/>
    <p:sldId id="385" r:id="rId29"/>
    <p:sldId id="455" r:id="rId30"/>
    <p:sldId id="410" r:id="rId31"/>
    <p:sldId id="388" r:id="rId32"/>
    <p:sldId id="456" r:id="rId33"/>
    <p:sldId id="411" r:id="rId34"/>
    <p:sldId id="391" r:id="rId35"/>
    <p:sldId id="458" r:id="rId36"/>
  </p:sldIdLst>
  <p:sldSz cx="9144000" cy="6858000" type="screen4x3"/>
  <p:notesSz cx="7099300" cy="10234613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tima" panose="02000503060000020004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tima" panose="02000503060000020004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tima" panose="02000503060000020004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tima" panose="02000503060000020004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tima" panose="02000503060000020004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Optima" panose="02000503060000020004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Optima" panose="02000503060000020004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Optima" panose="02000503060000020004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Optima" panose="02000503060000020004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3E83"/>
    <a:srgbClr val="EFAD00"/>
    <a:srgbClr val="FFFF99"/>
    <a:srgbClr val="FF66CC"/>
    <a:srgbClr val="FFD08B"/>
    <a:srgbClr val="FFCCCC"/>
    <a:srgbClr val="966B00"/>
    <a:srgbClr val="993300"/>
    <a:srgbClr val="CB9025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70" autoAdjust="0"/>
    <p:restoredTop sz="66763" autoAdjust="0"/>
  </p:normalViewPr>
  <p:slideViewPr>
    <p:cSldViewPr showGuides="1">
      <p:cViewPr>
        <p:scale>
          <a:sx n="114" d="100"/>
          <a:sy n="114" d="100"/>
        </p:scale>
        <p:origin x="1792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howGuides="1">
      <p:cViewPr varScale="1">
        <p:scale>
          <a:sx n="52" d="100"/>
          <a:sy n="52" d="100"/>
        </p:scale>
        <p:origin x="-2982" y="-90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presProps" Target="presProp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4744" tIns="47373" rIns="94744" bIns="47373" rtlCol="0"/>
          <a:lstStyle>
            <a:lvl1pPr algn="l" eaLnBrk="1" hangingPunct="1">
              <a:defRPr sz="13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4744" tIns="47373" rIns="94744" bIns="47373" rtlCol="0"/>
          <a:lstStyle>
            <a:lvl1pPr algn="r" eaLnBrk="1" hangingPunct="1">
              <a:defRPr sz="1300"/>
            </a:lvl1pPr>
          </a:lstStyle>
          <a:p>
            <a:pPr>
              <a:defRPr/>
            </a:pPr>
            <a:fld id="{1A515755-6431-42CE-89F6-20D8220FD509}" type="datetimeFigureOut">
              <a:rPr lang="es-ES"/>
              <a:pPr>
                <a:defRPr/>
              </a:pPr>
              <a:t>24/3/26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9720263"/>
            <a:ext cx="3076575" cy="512762"/>
          </a:xfrm>
          <a:prstGeom prst="rect">
            <a:avLst/>
          </a:prstGeom>
        </p:spPr>
        <p:txBody>
          <a:bodyPr vert="horz" lIns="94744" tIns="47373" rIns="94744" bIns="47373" rtlCol="0" anchor="b"/>
          <a:lstStyle>
            <a:lvl1pPr algn="l" eaLnBrk="1" hangingPunct="1">
              <a:defRPr sz="13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4021138" y="9720263"/>
            <a:ext cx="3076575" cy="512762"/>
          </a:xfrm>
          <a:prstGeom prst="rect">
            <a:avLst/>
          </a:prstGeom>
        </p:spPr>
        <p:txBody>
          <a:bodyPr vert="horz" lIns="94744" tIns="47373" rIns="94744" bIns="47373" rtlCol="0" anchor="b"/>
          <a:lstStyle>
            <a:lvl1pPr algn="r" eaLnBrk="1" hangingPunct="1">
              <a:defRPr sz="1300"/>
            </a:lvl1pPr>
          </a:lstStyle>
          <a:p>
            <a:pPr>
              <a:defRPr/>
            </a:pPr>
            <a:fld id="{C605E106-BB67-4C79-A57B-4DFD06C21271}" type="slidenum">
              <a:rPr lang="es-ES"/>
              <a:pPr>
                <a:defRPr/>
              </a:pPr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51570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12" tIns="49508" rIns="99012" bIns="49508" numCol="1" anchor="t" anchorCtr="0" compatLnSpc="1">
            <a:prstTxWarp prst="textNoShape">
              <a:avLst/>
            </a:prstTxWarp>
          </a:bodyPr>
          <a:lstStyle>
            <a:lvl1pPr algn="l" defTabSz="990246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12" tIns="49508" rIns="99012" bIns="49508" numCol="1" anchor="t" anchorCtr="0" compatLnSpc="1">
            <a:prstTxWarp prst="textNoShape">
              <a:avLst/>
            </a:prstTxWarp>
          </a:bodyPr>
          <a:lstStyle>
            <a:lvl1pPr algn="r" defTabSz="990246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3775" y="769938"/>
            <a:ext cx="5111750" cy="3835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12" tIns="49508" rIns="99012" bIns="4950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12" tIns="49508" rIns="99012" bIns="49508" numCol="1" anchor="b" anchorCtr="0" compatLnSpc="1">
            <a:prstTxWarp prst="textNoShape">
              <a:avLst/>
            </a:prstTxWarp>
          </a:bodyPr>
          <a:lstStyle>
            <a:lvl1pPr algn="l" defTabSz="990246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12" tIns="49508" rIns="99012" bIns="49508" numCol="1" anchor="b" anchorCtr="0" compatLnSpc="1">
            <a:prstTxWarp prst="textNoShape">
              <a:avLst/>
            </a:prstTxWarp>
          </a:bodyPr>
          <a:lstStyle>
            <a:lvl1pPr algn="r" defTabSz="990246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fld id="{1035D325-021E-4272-9CEB-D44F6117877C}" type="slidenum">
              <a:rPr lang="es-ES"/>
              <a:pPr>
                <a:defRPr/>
              </a:pPr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118767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NOTAS TÉCNICAS — Motivación y Objetivos</a:t>
            </a:r>
          </a:p>
          <a:p>
            <a:endParaRPr lang="es-ES" dirty="0"/>
          </a:p>
          <a:p>
            <a:r>
              <a:rPr lang="es-ES" dirty="0"/>
              <a:t>• Multitask-Stockformer: Modelo de deep learning para selección de acciones (Ma et al., 2025). Combina regresión de retornos con clasificación de dirección en un framework multitarea.</a:t>
            </a:r>
          </a:p>
          <a:p>
            <a:endParaRPr lang="es-ES" dirty="0"/>
          </a:p>
          <a:p>
            <a:r>
              <a:rPr lang="es-ES" dirty="0"/>
              <a:t>• IC (Information Coefficient): Correlación entre predicciones del modelo y retornos reales futuros. IC de 0.07-0.08 = capacidad predictiva moderada pero significativa. IC=0 es aleatorio; IC&gt;0.03 ya es útil para generar alpha.</a:t>
            </a:r>
          </a:p>
          <a:p>
            <a:endParaRPr lang="es-ES" dirty="0"/>
          </a:p>
          <a:p>
            <a:r>
              <a:rPr lang="es-ES" dirty="0"/>
              <a:t>• Sharpe Ratio: Retorno ajustado por riesgo = (Ret medio - Rf) / σ. Sharpe 1.5-2.1 es excepcional. La mayoría de hedge funds aspiran a &gt;1.0. Valores &gt;2.0 sugieren señal fuerte o mercado ineficiente.</a:t>
            </a:r>
          </a:p>
          <a:p>
            <a:endParaRPr lang="es-ES" dirty="0"/>
          </a:p>
          <a:p>
            <a:r>
              <a:rPr lang="es-ES" dirty="0"/>
              <a:t>• Alpha: Retorno en exceso sobre un benchmark (ej. SPY). Alpha positivo = el modelo genera valor sobre el mercado.</a:t>
            </a:r>
          </a:p>
          <a:p>
            <a:endParaRPr lang="es-ES" dirty="0"/>
          </a:p>
          <a:p>
            <a:r>
              <a:rPr lang="es-ES" dirty="0"/>
              <a:t>• Backtesting: Simulación histórica de una estrategia. Riesgo principal: overfitting a datos pasados.</a:t>
            </a:r>
          </a:p>
          <a:p>
            <a:endParaRPr lang="es-ES" dirty="0"/>
          </a:p>
          <a:p>
            <a:r>
              <a:rPr lang="es-ES" dirty="0"/>
              <a:t>• S&amp;P 500: Índice de las 500 empresas más grandes de EEUU por capitalización. Benchmark estándar de renta variable americana.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F15528-F159-4107-2468-4E6D86A0F032}" type="slidenum">
              <a:rPr lang="es-ES"/>
              <a:t>4</a:t>
            </a:fld>
            <a:endParaRPr lang="es-E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NOTAS TÉCNICAS — ¿Qué es Stockformer?</a:t>
            </a:r>
          </a:p>
          <a:p>
            <a:endParaRPr lang="es-ES" dirty="0"/>
          </a:p>
          <a:p>
            <a:r>
              <a:rPr lang="es-ES" dirty="0"/>
              <a:t>• DWT (Transformada Wavelet Discreta): Descompone una serie temporal en componentes de frecuencia. A diferencia de Fourier, preserva información temporal y frecuencial. Inversible y sin retardo temporal (lag).</a:t>
            </a:r>
          </a:p>
          <a:p>
            <a:endParaRPr lang="es-ES" dirty="0"/>
          </a:p>
          <a:p>
            <a:r>
              <a:rPr lang="es-ES" dirty="0"/>
              <a:t>• Wavelet Sym2 (Symlet-2): Familia casi-simétrica con 4 coeficientes de filtro. Nivel 1 genera aproximación (tendencia lenta) y detalle (volatilidad rápida).</a:t>
            </a:r>
          </a:p>
          <a:p>
            <a:endParaRPr lang="es-ES" dirty="0"/>
          </a:p>
          <a:p>
            <a:r>
              <a:rPr lang="es-ES" dirty="0"/>
              <a:t>• Codificador Dual:</a:t>
            </a:r>
          </a:p>
          <a:p>
            <a:r>
              <a:rPr lang="es-ES" dirty="0"/>
              <a:t>  - Self-Attention: Attention(Q,K,V) = softmax(QK^T/raíz(d))V. Captura dependencias a largo plazo.</a:t>
            </a:r>
          </a:p>
          <a:p>
            <a:r>
              <a:rPr lang="es-ES" dirty="0"/>
              <a:t>  - TCN dilatado causal: Kernel solo usa datos pasados. Dilatación crece exponencialmente (1,2,4,8...).</a:t>
            </a:r>
          </a:p>
          <a:p>
            <a:endParaRPr lang="es-ES" dirty="0"/>
          </a:p>
          <a:p>
            <a:r>
              <a:rPr lang="es-ES" dirty="0"/>
              <a:t>• Multitask Learning: Regresión (MAE) + Clasificación (CrossEntropy). Compartir representaciones = regularización implícita.</a:t>
            </a:r>
          </a:p>
          <a:p>
            <a:endParaRPr lang="es-ES" dirty="0"/>
          </a:p>
          <a:p>
            <a:r>
              <a:rPr lang="es-ES" dirty="0"/>
              <a:t>• Struc2Vec: Graph embedding que genera vectores 128-dim por acción basándose en equivalencia de rol estructural en el grafo de correlaciones.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F15528-0005-4107-2468-4E6D86A0F032}" type="slidenum">
              <a:rPr lang="es-ES"/>
              <a:t>5</a:t>
            </a:fld>
            <a:endParaRPr lang="es-E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NOTAS TÉCNICAS — Arquitectura del Modelo (Ma et al., 2025)</a:t>
            </a:r>
          </a:p>
          <a:p>
            <a:endParaRPr lang="es-ES" dirty="0"/>
          </a:p>
          <a:p>
            <a:r>
              <a:rPr lang="es-ES" dirty="0"/>
              <a:t>• Flujo completo: Input (Alpha360: 477 acciones x 360 features x T días) → DWT Layer (descomposición frecuencial) → Dual Encoder (Attention para tendencia + TCN para volatilidad) → GAT (fusión con grafos) → Output dual (regresión + clasificación).</a:t>
            </a:r>
          </a:p>
          <a:p>
            <a:endParaRPr lang="es-ES" dirty="0"/>
          </a:p>
          <a:p>
            <a:r>
              <a:rPr lang="es-ES" dirty="0"/>
              <a:t>• End-to-end diferenciable: Todos los componentes se entrenan conjuntamente via backpropagation. No hay pasos manuales intermedios.</a:t>
            </a:r>
          </a:p>
          <a:p>
            <a:endParaRPr lang="es-ES" dirty="0"/>
          </a:p>
          <a:p>
            <a:r>
              <a:rPr lang="es-ES" dirty="0"/>
              <a:t>• El modelo procesa las 477 acciones simultáneamente, no individualmente. Las relaciones entre acciones se capturan via Graph Attention Network.</a:t>
            </a:r>
          </a:p>
          <a:p>
            <a:endParaRPr lang="es-ES" dirty="0"/>
          </a:p>
          <a:p>
            <a:r>
              <a:rPr lang="es-ES" dirty="0"/>
              <a:t>• La predicción final es un score por acción que combina: estimación de retorno futuro (2 días) y probabilidad de dirección (subida/bajada).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NOTAS TÉCNICAS — Decoupling Flow Layer: DWT</a:t>
            </a:r>
          </a:p>
          <a:p>
            <a:endParaRPr lang="es-ES" dirty="0"/>
          </a:p>
          <a:p>
            <a:r>
              <a:rPr lang="es-ES" dirty="0"/>
              <a:t>• DWT aplica filtros paso-bajo (low-pass) y paso-alto (high-pass), seguidos de downsampling x2. Sym2 tiene 4 coeficientes: [-0.1294, 0.2241, 0.8365, 0.4830].</a:t>
            </a:r>
          </a:p>
          <a:p>
            <a:endParaRPr lang="es-ES" dirty="0"/>
          </a:p>
          <a:p>
            <a:r>
              <a:rPr lang="es-ES" dirty="0"/>
              <a:t>• Aproximación (cA) = baja frecuencia = tendencia: Movimientos lentos y persistentes del mercado (tendencias alcistas/bajistas de semanas o meses). Más predecible.</a:t>
            </a:r>
          </a:p>
          <a:p>
            <a:endParaRPr lang="es-ES" dirty="0"/>
          </a:p>
          <a:p>
            <a:r>
              <a:rPr lang="es-ES" dirty="0"/>
              <a:t>• Detalle (cD) = alta frecuencia = volatilidad: Cambios bruscos — picos, reacciones a noticias, earnings surprises, eventos macro. Más ruidosa pero informativa sobre régimen de mercado.</a:t>
            </a:r>
          </a:p>
          <a:p>
            <a:endParaRPr lang="es-ES" dirty="0"/>
          </a:p>
          <a:p>
            <a:r>
              <a:rPr lang="es-ES" dirty="0"/>
              <a:t>• Ventaja sobre media móvil: La DWT es inversible (se puede reconstruir la señal original) y no introduce retardo temporal (lag), crucial para predicción.</a:t>
            </a:r>
          </a:p>
          <a:p>
            <a:endParaRPr lang="es-ES" dirty="0"/>
          </a:p>
          <a:p>
            <a:r>
              <a:rPr lang="es-ES" dirty="0"/>
              <a:t>• La descomposición permite especialización: el attention encoder se entrena solo con tendencias, el TCN solo con volatilidad. Cada codificador aprende los patrones más relevantes de su dominio.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NOTAS TÉCNICAS — Codificador Espaciotemporal Dual</a:t>
            </a:r>
          </a:p>
          <a:p>
            <a:endParaRPr lang="es-ES" dirty="0"/>
          </a:p>
          <a:p>
            <a:r>
              <a:rPr lang="es-ES" dirty="0"/>
              <a:t>• Self-Attention (Temporal Attention): Mecanismo de Transformers (Vaswani et al., 2017). Calcula Attention(Q,K,V) = softmax(QK^T / raíz(d_k))V entre todos los pares de timesteps. Positional encoding añade información del orden temporal. Complejidad O(T²).</a:t>
            </a:r>
          </a:p>
          <a:p>
            <a:endParaRPr lang="es-ES" dirty="0"/>
          </a:p>
          <a:p>
            <a:r>
              <a:rPr lang="es-ES" dirty="0"/>
              <a:t>• TCN dilatado causal (Dilated Causal Convolution): "Causal" = el kernel solo ve timesteps pasados (padding asimétrico). "Dilatado" = factor de dilatación crece exponencialmente (d=1,2,4,8...), ampliando el campo receptivo exponencialmente sin más parámetros. Con kernel=3 y 4 capas: campo receptivo = 33 timesteps.</a:t>
            </a:r>
          </a:p>
          <a:p>
            <a:endParaRPr lang="es-ES" dirty="0"/>
          </a:p>
          <a:p>
            <a:r>
              <a:rPr lang="es-ES" dirty="0"/>
              <a:t>• GAT (Graph Attention Network, Velickovic et al., 2018): Red neuronal sobre grafos con mecanismo de atención. Cada nodo (acción) asigna pesos de atención a sus vecinos, permitiendo que "preste más atención" a acciones más relevantes.</a:t>
            </a:r>
          </a:p>
          <a:p>
            <a:endParaRPr lang="es-ES" dirty="0"/>
          </a:p>
          <a:p>
            <a:r>
              <a:rPr lang="es-ES" dirty="0"/>
              <a:t>• Grafo espacial Aspa (477x477): Matriz de correlaciones de Pearson entre pares de acciones. Solo se mantienen aristas con |correlación| &gt; 0.3. Codificada como embeddings Struc2Vec de dimensión 128.</a:t>
            </a:r>
          </a:p>
          <a:p>
            <a:endParaRPr lang="es-ES" dirty="0"/>
          </a:p>
          <a:p>
            <a:r>
              <a:rPr lang="es-ES" dirty="0"/>
              <a:t>• Grafo temporal Atem: Conecta cada día t con t-1 (adyacencia diaria) y con el mismo día del mes siguiente (estacionalidad mensual).</a:t>
            </a:r>
          </a:p>
          <a:p>
            <a:endParaRPr lang="es-ES" dirty="0"/>
          </a:p>
          <a:p>
            <a:r>
              <a:rPr lang="es-ES" dirty="0"/>
              <a:t>• L capas apiladas (L=2): Dos iteraciones del encoder completo. Cada capa refina progresivamente las representaciones espaciotemporales.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NOTAS TÉCNICAS — Grafos Temporales y Struc2Vec</a:t>
            </a:r>
          </a:p>
          <a:p>
            <a:endParaRPr lang="es-ES" dirty="0"/>
          </a:p>
          <a:p>
            <a:r>
              <a:rPr lang="es-ES" dirty="0"/>
              <a:t>• Struc2Vec (Ribeiro et al., 2017): A diferencia de Node2Vec (preserva proximidad), Struc2Vec preserva equivalencia estructural. Dos nodos con roles similares (ej. hubs) tendrán embeddings similares aunque estén lejos en el grafo.</a:t>
            </a:r>
          </a:p>
          <a:p>
            <a:endParaRPr lang="es-ES" dirty="0"/>
          </a:p>
          <a:p>
            <a:r>
              <a:rPr lang="es-ES" dirty="0"/>
              <a:t>• Embeddings 128-dim: Cada acción tiene un vector fijo que codifica su "rol" en el ecosistema de correlaciones. Acciones con patrones de correlación similares (ej. dos tech stocks) tendrán vectores cercanos.</a:t>
            </a:r>
          </a:p>
          <a:p>
            <a:endParaRPr lang="es-ES" dirty="0"/>
          </a:p>
          <a:p>
            <a:r>
              <a:rPr lang="es-ES" dirty="0"/>
              <a:t>• Umbral |corr|&gt;0.3: Hiperparámetro que controla densidad del grafo. Valores más bajos = más conexiones (más señal pero más ruido). 0.3 es un balance empírico. Alternativa: usar correlación parcial o DTW distance.</a:t>
            </a:r>
          </a:p>
          <a:p>
            <a:endParaRPr lang="es-ES" dirty="0"/>
          </a:p>
          <a:p>
            <a:r>
              <a:rPr lang="es-ES" dirty="0"/>
              <a:t>• Grafo temporal: Cada nodo es un día de trading. Aristas: t→t+1 (adyacencia diaria) y t→t+~20 (mismo día del mes siguiente). Captura patrones de estacionalidad mensual (ej. efecto fin de mes, rebalanceo de fondos).</a:t>
            </a:r>
          </a:p>
          <a:p>
            <a:endParaRPr lang="es-ES" dirty="0"/>
          </a:p>
          <a:p>
            <a:r>
              <a:rPr lang="es-ES" dirty="0"/>
              <a:t>• Fusión por suma: embeddings de grafo + representaciones del encoder temporal. Es la fusión más simple. Alternativas: concatenación, attention gate, o multiplicación elemento a elemento.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NOTAS TÉCNICAS — Factores Alpha360</a:t>
            </a:r>
          </a:p>
          <a:p>
            <a:endParaRPr lang="es-ES" dirty="0"/>
          </a:p>
          <a:p>
            <a:r>
              <a:rPr lang="es-ES" dirty="0"/>
              <a:t>• Alpha360: Set de 360 factores técnicos diseñado por Microsoft Qlib. Fórmula: 6 campos OHLCV x 60 lags diarios = 360 features por acción por día.</a:t>
            </a:r>
          </a:p>
          <a:p>
            <a:endParaRPr lang="es-ES" dirty="0"/>
          </a:p>
          <a:p>
            <a:r>
              <a:rPr lang="es-ES" dirty="0"/>
              <a:t>• Campos: CLOSE/C(t-d), OPEN/C(t-d), HIGH/C(t-d), LOW/C(t-d), VWAP/C(t-d), VOL/VOL(t-d). Normalizar por cierre pasado elimina la escala absoluta del precio.</a:t>
            </a:r>
          </a:p>
          <a:p>
            <a:endParaRPr lang="es-ES" dirty="0"/>
          </a:p>
          <a:p>
            <a:r>
              <a:rPr lang="es-ES" dirty="0"/>
              <a:t>• Z-score cross-sectional: Para cada día, z_i = (x_i - media) / std calculado entre las 477 acciones. Elimina el efecto de mercado común (beta) y deja solo la señal relativa entre acciones (alpha).</a:t>
            </a:r>
          </a:p>
          <a:p>
            <a:endParaRPr lang="es-ES" dirty="0"/>
          </a:p>
          <a:p>
            <a:r>
              <a:rPr lang="es-ES" dirty="0"/>
              <a:t>• VWAP (Volume Weighted Average Price): Precio medio ponderado por volumen intradía. Ideal es calcularlo con datos tick. Sin ellos, se aproxima como (High + Low + Close) / 3 ("typical price"). Esta aproximación pierde la ponderación por volumen real.</a:t>
            </a:r>
          </a:p>
          <a:p>
            <a:endParaRPr lang="es-ES" dirty="0"/>
          </a:p>
          <a:p>
            <a:r>
              <a:rPr lang="es-ES" dirty="0"/>
              <a:t>• 60 lags = ~3 meses de trading: Captura patrones de momentum (acciones que suben siguen subiendo) y mean-reversion (acciones sobrecompradas tienden a corregir) a medio plazo.</a:t>
            </a:r>
          </a:p>
          <a:p>
            <a:endParaRPr lang="es-ES" dirty="0"/>
          </a:p>
          <a:p>
            <a:r>
              <a:rPr lang="es-ES" dirty="0"/>
              <a:t>• Qlib: Plataforma open-source de Microsoft Research para investigación en finanzas cuantitativas con IA. Define factores estándar y frameworks de backtesting.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NOTAS TÉCNICAS — Configuración del Modelo y Datos</a:t>
            </a:r>
          </a:p>
          <a:p>
            <a:endParaRPr lang="es-ES" dirty="0"/>
          </a:p>
          <a:p>
            <a:r>
              <a:rPr lang="es-ES" dirty="0"/>
              <a:t>• Universo: 477 acciones del S&amp;P 500 tras filtrar por disponibilidad &gt;80%. El S&amp;P 500 tiene ~503 componentes; se eliminaron ~26 con datos insuficientes (IPOs recientes, delists).</a:t>
            </a:r>
          </a:p>
          <a:p>
            <a:endParaRPr lang="es-ES" dirty="0"/>
          </a:p>
          <a:p>
            <a:r>
              <a:rPr lang="es-ES" dirty="0"/>
              <a:t>• Split temporal 75/12.5/12.5: Train hasta ~Oct 2024, Validation ~Oct 2024 - Jun 2025, Test ~Jun 2025 - Mar 2026. El split es cronológico — nunca se mezclan datos futuros en entrenamiento.</a:t>
            </a:r>
          </a:p>
          <a:p>
            <a:endParaRPr lang="es-ES" dirty="0"/>
          </a:p>
          <a:p>
            <a:r>
              <a:rPr lang="es-ES" dirty="0"/>
              <a:t>• Lookback T1=20 días: El modelo ve los últimos 20 días de trading (~1 mes) para predecir T2=2 días adelante. Horizonte corto = high-frequency alpha.</a:t>
            </a:r>
          </a:p>
          <a:p>
            <a:endParaRPr lang="es-ES" dirty="0"/>
          </a:p>
          <a:p>
            <a:r>
              <a:rPr lang="es-ES" dirty="0"/>
              <a:t>• Hiperparámetros: 2 capas DualEncoder, 1 head de atención (vs. 8-12 en GPT), dim=128, batch=12 (pequeño por el tamaño de la matriz 477x360).</a:t>
            </a:r>
          </a:p>
          <a:p>
            <a:endParaRPr lang="es-ES" dirty="0"/>
          </a:p>
          <a:p>
            <a:r>
              <a:rPr lang="es-ES" dirty="0"/>
              <a:t>• Loss multitarea: L = L_reg (MAE) + L_cla (CrossEntropy). MAE = Mean Absolute Error (más robusto a outliers que MSE). CrossEntropy para clasificación binaria (sube/baja). Pesos iguales (lambda=1).</a:t>
            </a:r>
          </a:p>
          <a:p>
            <a:endParaRPr lang="es-ES" dirty="0"/>
          </a:p>
          <a:p>
            <a:r>
              <a:rPr lang="es-ES" dirty="0"/>
              <a:t>• LR=0.001 con Adam optimizer: Learning rate estándar. Adam adapta el LR por parámetro.</a:t>
            </a:r>
          </a:p>
          <a:p>
            <a:endParaRPr lang="es-ES" dirty="0"/>
          </a:p>
          <a:p>
            <a:r>
              <a:rPr lang="es-ES" dirty="0"/>
              <a:t>• 50 epochs: Moderado. Más epochs = riesgo de sobreajuste. Se usa validation loss para early stopping.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NOTAS TÉCNICAS — Rolling Window</a:t>
            </a:r>
          </a:p>
          <a:p>
            <a:endParaRPr lang="es-ES" dirty="0"/>
          </a:p>
          <a:p>
            <a:r>
              <a:rPr lang="es-ES" dirty="0"/>
              <a:t>• Rolling Window: Validación temporal donde la ventana de entrenamiento se desplaza cronológicamente. Cada modelo se reentrena con datos más recientes y se evalúa en el periodo siguiente.</a:t>
            </a:r>
          </a:p>
          <a:p>
            <a:endParaRPr lang="es-ES" dirty="0"/>
          </a:p>
          <a:p>
            <a:r>
              <a:rPr lang="es-ES" dirty="0"/>
              <a:t>• Paper original: 14 sub-datasets de 648 días (486 train + 81 val + 81 test). Cada modelo captura el régimen de mercado de su periodo específico.</a:t>
            </a:r>
          </a:p>
          <a:p>
            <a:endParaRPr lang="es-ES" dirty="0"/>
          </a:p>
          <a:p>
            <a:r>
              <a:rPr lang="es-ES" dirty="0"/>
              <a:t>• Nuestra adaptación: Un solo split estático. Limitación: concept drift — si las condiciones de mercado cambian entre train y test (ej. cambio de política monetaria, COVID), el modelo puede degradarse.</a:t>
            </a:r>
          </a:p>
          <a:p>
            <a:endParaRPr lang="es-ES" dirty="0"/>
          </a:p>
          <a:p>
            <a:r>
              <a:rPr lang="es-ES" dirty="0"/>
              <a:t>• Coste computacional: 14 sub-datasets x 50 epochs x 477 acciones = ~14x más tiempo de GPU. Con GPU limitada (ej. Google Colab), es impracticable (~14 horas vs ~1 hora).</a:t>
            </a:r>
          </a:p>
          <a:p>
            <a:endParaRPr lang="es-ES" dirty="0"/>
          </a:p>
          <a:p>
            <a:r>
              <a:rPr lang="es-ES" dirty="0"/>
              <a:t>• Ventaja del rolling: Captura cambios de régimen (pre-COVID, crash COVID, recovery, inflación 2022, rally tech 2023-24). Un modelo estático asume estacionariedad que raramente existe.</a:t>
            </a:r>
          </a:p>
          <a:p>
            <a:endParaRPr lang="es-ES" dirty="0"/>
          </a:p>
          <a:p>
            <a:r>
              <a:rPr lang="es-ES" dirty="0"/>
              <a:t>• Desventaja: Más difícil de debuggear — 14 modelos independientes. También puede sufrir de "recency bias" si las ventanas son demasiado cortas.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NOTAS TÉCNICAS — Diferencias Clave: China vs S&amp;P 500</a:t>
            </a:r>
          </a:p>
          <a:p>
            <a:endParaRPr lang="es-ES" dirty="0"/>
          </a:p>
          <a:p>
            <a:r>
              <a:rPr lang="es-ES" dirty="0"/>
              <a:t>• EMH (Efficient Market Hypothesis, Fama 1970): Mercados más eficientes incorporan toda la información disponible más rápido en los precios. Menos oportunidades de alpha para modelos predictivos.</a:t>
            </a:r>
          </a:p>
          <a:p>
            <a:endParaRPr lang="es-ES" dirty="0"/>
          </a:p>
          <a:p>
            <a:r>
              <a:rPr lang="es-ES" dirty="0"/>
              <a:t>• Participación retail vs institucional: China &gt;60% retail (inversores individuales, más emocionales); EEUU &gt;80% institucional (fondos, bancos, algoritmos). Retail crea más ineficiencias explotables.</a:t>
            </a:r>
          </a:p>
          <a:p>
            <a:endParaRPr lang="es-ES" dirty="0"/>
          </a:p>
          <a:p>
            <a:r>
              <a:rPr lang="es-ES" dirty="0"/>
              <a:t>• HFT (High-Frequency Trading): En EEUU &gt;50% del volumen. Algoritmos que arbitran ineficiencias en milisegundos, dejando poco alpha para modelos de frecuencia diaria como Stockformer.</a:t>
            </a:r>
          </a:p>
          <a:p>
            <a:endParaRPr lang="es-ES" dirty="0"/>
          </a:p>
          <a:p>
            <a:r>
              <a:rPr lang="es-ES" dirty="0"/>
              <a:t>• Alpha disponible: En mercados ineficientes (China), IC 0.07-0.08 es alcanzable con factores precio-volumen. En mercados eficientes (EEUU), se necesitan señales más sofisticadas o datos alternativos.</a:t>
            </a:r>
          </a:p>
          <a:p>
            <a:endParaRPr lang="es-ES" dirty="0"/>
          </a:p>
          <a:p>
            <a:r>
              <a:rPr lang="es-ES" dirty="0"/>
              <a:t>• VWAP: En China, Qlib proporciona VWAP real (datos tick). En EEUU con yfinance, solo OHLCV diario, forzando la aproximación (H+L+C)/3.</a:t>
            </a:r>
          </a:p>
          <a:p>
            <a:endParaRPr lang="es-ES" dirty="0"/>
          </a:p>
          <a:p>
            <a:r>
              <a:rPr lang="es-ES" dirty="0"/>
              <a:t>• Concentración tech: S&amp;P 500 tiene &gt;30% en tecnología (AAPL, MSFT, NVDA, AMZN, GOOGL). Alta correlación entre estas mega-caps afecta el grafo de correlaciones.</a:t>
            </a:r>
          </a:p>
          <a:p>
            <a:endParaRPr lang="es-ES" dirty="0"/>
          </a:p>
          <a:p>
            <a:r>
              <a:rPr lang="es-ES" dirty="0"/>
              <a:t>• Qlib: Plataforma de Microsoft para investigación en finanzas cuantitativas.</a:t>
            </a:r>
          </a:p>
          <a:p>
            <a:r>
              <a:rPr lang="es-ES" dirty="0"/>
              <a:t>• RiceQuant: Plataforma china de datos y backtesting similar a QuantConnect.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NOTAS TÉCNICAS — Desafíos en el Pipeline de Datos</a:t>
            </a:r>
          </a:p>
          <a:p>
            <a:endParaRPr lang="es-ES" dirty="0"/>
          </a:p>
          <a:p>
            <a:r>
              <a:rPr lang="es-ES" dirty="0"/>
              <a:t>• Sesgo de supervivencia (Survivorship Bias): Usar la lista actual del S&amp;P 500 excluye empresas removidas (quiebras, fusiones, delisting). Sobreestima rendimientos al ignorar "perdedores" que salieron del índice.</a:t>
            </a:r>
          </a:p>
          <a:p>
            <a:endParaRPr lang="es-ES" dirty="0"/>
          </a:p>
          <a:p>
            <a:r>
              <a:rPr lang="es-ES" dirty="0"/>
              <a:t>• Forward-fill: Rellena valores faltantes con el último valor conocido. Razonable para gaps cortos (festivos) pero puede introducir sesgo en gaps largos (ej. suspensión de cotización).</a:t>
            </a:r>
          </a:p>
          <a:p>
            <a:endParaRPr lang="es-ES" dirty="0"/>
          </a:p>
          <a:p>
            <a:r>
              <a:rPr lang="es-ES" dirty="0"/>
              <a:t>• Data leakage temporal: El grafo de correlaciones Struc2Vec se calcula sobre todo el periodo (2018-2026), incluyendo datos futuros respecto al set de entrenamiento. Idealmente debería recalcularse usando solo datos hasta la fecha de corte de cada split.</a:t>
            </a:r>
          </a:p>
          <a:p>
            <a:endParaRPr lang="es-ES" dirty="0"/>
          </a:p>
          <a:p>
            <a:r>
              <a:rPr lang="es-ES" dirty="0"/>
              <a:t>• Z-score con std=0: Cuando todas las acciones tienen el mismo valor de un factor (ej. festivo parcial), sigma=0 y z-score produce NaN. Se reemplazan por 0 (asume "sin información").</a:t>
            </a:r>
          </a:p>
          <a:p>
            <a:endParaRPr lang="es-ES" dirty="0"/>
          </a:p>
          <a:p>
            <a:r>
              <a:rPr lang="es-ES" dirty="0"/>
              <a:t>• yfinance: API gratuita de Yahoo Finance. Rate limiting: se procesan en chunks de 80 tickers con delays para evitar bloqueos.</a:t>
            </a:r>
          </a:p>
          <a:p>
            <a:endParaRPr lang="es-ES" dirty="0"/>
          </a:p>
          <a:p>
            <a:r>
              <a:rPr lang="es-ES" dirty="0"/>
              <a:t>• OHLCV: Open, High, Low, Close, Volume — los 5 campos estándar de datos de mercado diarios. Son datos ajustados por splits y dividendos.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NOTAS TÉCNICAS — KPIs del Backtesting (Periodo de Test)</a:t>
            </a:r>
          </a:p>
          <a:p>
            <a:endParaRPr lang="es-ES" dirty="0"/>
          </a:p>
          <a:p>
            <a:r>
              <a:rPr lang="es-ES" dirty="0"/>
              <a:t>• Retorno Total (-9.91%): Rendimiento acumulado de la cartera en el periodo de test. Negativo = la cartera perdió dinero. Comparar con SPY en el mismo periodo para contextualizar.</a:t>
            </a:r>
          </a:p>
          <a:p>
            <a:endParaRPr lang="es-ES" dirty="0"/>
          </a:p>
          <a:p>
            <a:r>
              <a:rPr lang="es-ES" dirty="0"/>
              <a:t>• Sharpe Ratio (-1.37): Ratio retorno/riesgo anualizado. Negativo = el retorno medio es negativo. Fórmula: Sharpe = (R_p - R_f) / sigma_p × raíz(252). 252 = días de trading por año.</a:t>
            </a:r>
          </a:p>
          <a:p>
            <a:endParaRPr lang="es-ES" dirty="0"/>
          </a:p>
          <a:p>
            <a:r>
              <a:rPr lang="es-ES" dirty="0"/>
              <a:t>• Sortino Ratio (-2.04): Similar al Sharpe pero solo penaliza la volatilidad negativa (downside deviation). Más severo que Sharpe cuando hay más caídas que subidas. Sortino = (R_p - R_f) / sigma_downside.</a:t>
            </a:r>
          </a:p>
          <a:p>
            <a:endParaRPr lang="es-ES" dirty="0"/>
          </a:p>
          <a:p>
            <a:r>
              <a:rPr lang="es-ES" dirty="0"/>
              <a:t>• Max Drawdown (-18.8%): Mayor caída desde un pico hasta un valle en la equity curve. Indica el peor escenario histórico. Un drawdown de -18.8% significa que en el peor momento, la cartera perdió 18.8% desde su máximo.</a:t>
            </a:r>
          </a:p>
          <a:p>
            <a:endParaRPr lang="es-ES" dirty="0"/>
          </a:p>
          <a:p>
            <a:r>
              <a:rPr lang="es-ES" dirty="0"/>
              <a:t>• Ratio Ganancias/Pérdidas (0.24): Promedio de ganancias en días positivos / promedio de pérdidas en días negativos. Ratio &lt; 1 = las pérdidas promedio son mayores que las ganancias. Se necesita win rate alto para compensar.</a:t>
            </a:r>
          </a:p>
          <a:p>
            <a:endParaRPr lang="es-ES" dirty="0"/>
          </a:p>
          <a:p>
            <a:r>
              <a:rPr lang="es-ES" dirty="0"/>
              <a:t>• Días Ganadores (96 de 236): Número absoluto de días con retorno positivo en el periodo de test.</a:t>
            </a:r>
          </a:p>
          <a:p>
            <a:endParaRPr lang="es-ES" dirty="0"/>
          </a:p>
          <a:p>
            <a:r>
              <a:rPr lang="es-ES" dirty="0"/>
              <a:t>• % Días Ganadores (40.7%): Win rate. Menos de 50% = más días perdedores que ganadores. Combinado con ratio G/P de 0.24, confirma que la estrategia pierde dinero consistentemente.</a:t>
            </a:r>
          </a:p>
          <a:p>
            <a:endParaRPr lang="es-ES" dirty="0"/>
          </a:p>
          <a:p>
            <a:r>
              <a:rPr lang="es-ES" dirty="0"/>
              <a:t>• Interpretación global: Todos los KPIs son negativos o pobres. El modelo Stockformer no genera alpha en S&amp;P 500 con la estrategia long-only Top-10. La principal hipótesis es la eficiencia del mercado estadounidense.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NOTAS TÉCNICAS — Análisis de la Brecha de Rendimiento</a:t>
            </a:r>
          </a:p>
          <a:p>
            <a:endParaRPr lang="es-ES" dirty="0"/>
          </a:p>
          <a:p>
            <a:r>
              <a:rPr lang="es-ES" dirty="0"/>
              <a:t>• IC = 0: Information Coefficient cercano a cero indica que las predicciones no están correlacionadas con los retornos reales. El modelo no tiene poder predictivo significativo en EEUU.</a:t>
            </a:r>
          </a:p>
          <a:p>
            <a:endParaRPr lang="es-ES" dirty="0"/>
          </a:p>
          <a:p>
            <a:r>
              <a:rPr lang="es-ES" dirty="0"/>
              <a:t>• Beta: Sensibilidad al mercado. Beta=1.33 = por cada 1% que sube/baja el mercado, la cartera se mueve 1.33%. La cartera amplifica movimientos del mercado sin generar alpha.</a:t>
            </a:r>
          </a:p>
          <a:p>
            <a:endParaRPr lang="es-ES" dirty="0"/>
          </a:p>
          <a:p>
            <a:r>
              <a:rPr lang="es-ES" dirty="0"/>
              <a:t>• Alpha (Jensen's Alpha): Intercepto de la regresión del retorno de la cartera vs retorno del mercado. Alpha=0 con beta alto = la cartera es esencialmente un ETF apalancado, no un stock picker.</a:t>
            </a:r>
          </a:p>
          <a:p>
            <a:endParaRPr lang="es-ES" dirty="0"/>
          </a:p>
          <a:p>
            <a:r>
              <a:rPr lang="es-ES" dirty="0"/>
              <a:t>• Estrategia Long-only: Solo compra Top-10. No explota predicciones negativas. Si el modelo predice que AAPL bajará, la estrategia simplemente no la compra pero no gana dinero de esa predicción.</a:t>
            </a:r>
          </a:p>
          <a:p>
            <a:endParaRPr lang="es-ES" dirty="0"/>
          </a:p>
          <a:p>
            <a:r>
              <a:rPr lang="es-ES" dirty="0"/>
              <a:t>• Long-Short: Compra Top-N + vende corto Bottom-N. El retorno del spread (long-short) aísla la habilidad de ranking del modelo. Si Top-N sube más que Bottom-N consistentemente, hay alpha.</a:t>
            </a:r>
          </a:p>
          <a:p>
            <a:endParaRPr lang="es-ES" dirty="0"/>
          </a:p>
          <a:p>
            <a:r>
              <a:rPr lang="es-ES" dirty="0"/>
              <a:t>• EMH en la práctica: IC=0 con factores precio-volumen sugiere que la EMH semi-fuerte se cumple parcialmente en EEUU — estos factores están ya priceados.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NOTAS TÉCNICAS — Implementación de la Estrategia Long-Short</a:t>
            </a:r>
          </a:p>
          <a:p>
            <a:endParaRPr lang="es-ES" dirty="0"/>
          </a:p>
          <a:p>
            <a:r>
              <a:rPr lang="es-ES" dirty="0"/>
              <a:t>• Market-neutral: Exposición neta al mercado = 0. Si largo $100K y corto $100K = "dollar-neutral". El retorno depende solo de la calidad del ranking relativo, no de la dirección del mercado.</a:t>
            </a:r>
          </a:p>
          <a:p>
            <a:endParaRPr lang="es-ES" dirty="0"/>
          </a:p>
          <a:p>
            <a:r>
              <a:rPr lang="es-ES" dirty="0"/>
              <a:t>• Spread long-short: Retorno = R_long - R_short. Si Top-N sube más que Bottom-N consistentemente, el spread es positivo. Funciona en mercados alcistas Y bajistas.</a:t>
            </a:r>
          </a:p>
          <a:p>
            <a:endParaRPr lang="es-ES" dirty="0"/>
          </a:p>
          <a:p>
            <a:r>
              <a:rPr lang="es-ES" dirty="0"/>
              <a:t>• Borrow cost (coste de préstamo): Para vender en corto, se "piden prestadas" acciones. Coste típico: 1-3% anual para S&amp;P 500 (líquidas). Puede ser &gt;10% para "hard to borrow" stocks.</a:t>
            </a:r>
          </a:p>
          <a:p>
            <a:endParaRPr lang="es-ES" dirty="0"/>
          </a:p>
          <a:p>
            <a:r>
              <a:rPr lang="es-ES" dirty="0"/>
              <a:t>• Short-selling constraints: SEC Reg SHO requiere "locate" antes de vender en corto. Uptick Rule limita shorts en acciones que caen &gt;10% en un día.</a:t>
            </a:r>
          </a:p>
          <a:p>
            <a:endParaRPr lang="es-ES" dirty="0"/>
          </a:p>
          <a:p>
            <a:r>
              <a:rPr lang="es-ES" dirty="0"/>
              <a:t>• Equal weight (-1/N): Cada posición tiene peso 1/N (long) o -1/N (short). Simple y robusto. Alternativa: conviction-weighted (ponderar por magnitud de la señal del modelo).</a:t>
            </a:r>
          </a:p>
          <a:p>
            <a:endParaRPr lang="es-ES" dirty="0"/>
          </a:p>
          <a:p>
            <a:r>
              <a:rPr lang="es-ES" dirty="0"/>
              <a:t>• IC y Sharpe esperados: Si el modelo tiene señal, IC(spread) &gt; 0 y Sharpe &gt; 0. Un Sharpe &gt; 0.5 en market-neutral sería prometedor. Los mejores fondos quant logran Sharpe 1.5-2.0 en market-neutral.</a:t>
            </a:r>
          </a:p>
          <a:p>
            <a:endParaRPr lang="es-ES" dirty="0"/>
          </a:p>
          <a:p>
            <a:r>
              <a:rPr lang="es-ES" dirty="0"/>
              <a:t>• Max Drawdown: Mayor caída pico-a-valle de la equity curve. En market-neutral, drawdowns suelen ser menores que en long-only por la cobertura natural del short.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NOTAS TÉCNICAS — Estado General del Proyecto</a:t>
            </a:r>
          </a:p>
          <a:p>
            <a:endParaRPr lang="es-ES" dirty="0"/>
          </a:p>
          <a:p>
            <a:r>
              <a:rPr lang="es-ES" dirty="0"/>
              <a:t>• Inferencia: Paso forward del modelo entrenado sobre datos nuevos (test set) para obtener predicciones sin actualizar pesos. Mucho más rápido que entrenamiento (minutos vs horas).</a:t>
            </a:r>
          </a:p>
          <a:p>
            <a:endParaRPr lang="es-ES" dirty="0"/>
          </a:p>
          <a:p>
            <a:r>
              <a:rPr lang="es-ES" dirty="0"/>
              <a:t>• Backtesting: Simulación de la estrategia en el periodo de test. Se construye la equity curve diaria: cada día se seleccionan Top-10, se calcula el retorno ponderado, y se acumula.</a:t>
            </a:r>
          </a:p>
          <a:p>
            <a:endParaRPr lang="es-ES" dirty="0"/>
          </a:p>
          <a:p>
            <a:r>
              <a:rPr lang="es-ES" dirty="0"/>
              <a:t>• Concept drift: La distribución de datos de mercado cambia con el tiempo (nuevas regulaciones, cambios macroeconómicos). Modelos estáticos se degradan — de ahí la necesidad de rolling window.</a:t>
            </a:r>
          </a:p>
          <a:p>
            <a:endParaRPr lang="es-ES" dirty="0"/>
          </a:p>
          <a:p>
            <a:r>
              <a:rPr lang="es-ES" dirty="0"/>
              <a:t>• Streamlit: Aplicación web interactiva para que el usuario pueda: (1) seleccionar parámetros (N acciones, periodo), (2) ver equity curves, (3) comparar métricas entre estrategias.</a:t>
            </a:r>
          </a:p>
          <a:p>
            <a:endParaRPr lang="es-ES" dirty="0"/>
          </a:p>
          <a:p>
            <a:r>
              <a:rPr lang="es-ES" dirty="0"/>
              <a:t>• Fases del TFM: (1) Estado del arte y comprensión del modelo, (2) Pipeline de datos S&amp;P 500, (3) Entrenamiento y backtesting, (4) Interfaz Streamlit, (5) Documentación y memoria.</a:t>
            </a:r>
          </a:p>
          <a:p>
            <a:endParaRPr lang="es-ES" dirty="0"/>
          </a:p>
          <a:p>
            <a:r>
              <a:rPr lang="es-ES" dirty="0"/>
              <a:t>• Anexo B: Documento formal que define alcance, objetivos y cronograma. La estrategia long-short es una extensión que enriquece el trabajo original.</a:t>
            </a:r>
          </a:p>
          <a:p>
            <a:endParaRPr lang="es-ES" dirty="0"/>
          </a:p>
          <a:p>
            <a:r>
              <a:rPr lang="es-ES" dirty="0"/>
              <a:t>• Métricas clave del backtesting: Retorno Total, Sharpe Ratio, Sortino Ratio (penaliza solo volatilidad negativa), Max Drawdown (mayor caída), Win Rate (% días con ganancia), Ratio Ganancias/Pérdidas.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0641" y="-1"/>
            <a:ext cx="9218639" cy="685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71520" y="1939610"/>
            <a:ext cx="5618480" cy="2341244"/>
          </a:xfrm>
        </p:spPr>
        <p:txBody>
          <a:bodyPr anchor="t">
            <a:noAutofit/>
          </a:bodyPr>
          <a:lstStyle>
            <a:lvl1pPr>
              <a:defRPr lang="en-US" sz="3733" b="1" noProof="0" dirty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 defTabSz="914354"/>
            <a:r>
              <a:rPr lang="es-ES_tradnl" noProof="0" dirty="0"/>
              <a:t>Haga clic para modificar el estilo de título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271520" y="4819333"/>
            <a:ext cx="5618480" cy="1500187"/>
          </a:xfrm>
        </p:spPr>
        <p:txBody>
          <a:bodyPr>
            <a:normAutofit/>
          </a:bodyPr>
          <a:lstStyle>
            <a:lvl1pPr>
              <a:defRPr lang="en-US" sz="2800" noProof="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228589" lvl="0" indent="-228589" defTabSz="914354">
              <a:buFont typeface="Wingdings" panose="05000000000000000000" pitchFamily="2" charset="2"/>
              <a:buChar char="§"/>
            </a:pPr>
            <a:r>
              <a:rPr lang="es-ES_tradnl" noProof="0"/>
              <a:t>Haga clic para modificar el estilo de texto del patrón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B6DF747-F3CE-4E1E-A11E-BAE870BD01CB}"/>
              </a:ext>
            </a:extLst>
          </p:cNvPr>
          <p:cNvSpPr/>
          <p:nvPr userDrawn="1"/>
        </p:nvSpPr>
        <p:spPr>
          <a:xfrm>
            <a:off x="-40640" y="6588760"/>
            <a:ext cx="1524000" cy="2692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21F19D-C1F2-A541-A1F7-74A8AD3A04A6}"/>
              </a:ext>
            </a:extLst>
          </p:cNvPr>
          <p:cNvSpPr txBox="1"/>
          <p:nvPr userDrawn="1"/>
        </p:nvSpPr>
        <p:spPr>
          <a:xfrm>
            <a:off x="3271520" y="260648"/>
            <a:ext cx="43572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b="1" noProof="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ICAI – Máster en Tecnologías de Telecomunicación</a:t>
            </a:r>
          </a:p>
        </p:txBody>
      </p:sp>
    </p:spTree>
    <p:extLst>
      <p:ext uri="{BB962C8B-B14F-4D97-AF65-F5344CB8AC3E}">
        <p14:creationId xmlns:p14="http://schemas.microsoft.com/office/powerpoint/2010/main" val="1812638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s-ES_tradnl" noProof="0"/>
              <a:t>Haga clic para modificar el estilo de título del patrón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s-ES_tradnl" noProof="0"/>
              <a:t>Haga clic para modificar el estilo de texto del patrón</a:t>
            </a:r>
          </a:p>
          <a:p>
            <a:pPr lvl="1"/>
            <a:r>
              <a:rPr lang="es-ES_tradnl" noProof="0"/>
              <a:t>Segundo nivel</a:t>
            </a:r>
          </a:p>
          <a:p>
            <a:pPr lvl="2"/>
            <a:r>
              <a:rPr lang="es-ES_tradnl" noProof="0"/>
              <a:t>Tercer nivel</a:t>
            </a:r>
          </a:p>
          <a:p>
            <a:pPr lvl="3"/>
            <a:r>
              <a:rPr lang="es-ES_tradnl" noProof="0"/>
              <a:t>Cuarto nivel</a:t>
            </a:r>
          </a:p>
          <a:p>
            <a:pPr lvl="4"/>
            <a:r>
              <a:rPr lang="es-ES_tradnl" noProof="0"/>
              <a:t>Quinto nivel</a:t>
            </a:r>
          </a:p>
        </p:txBody>
      </p:sp>
      <p:sp>
        <p:nvSpPr>
          <p:cNvPr id="10" name="9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214885" y="6451178"/>
            <a:ext cx="671728" cy="366183"/>
          </a:xfrm>
          <a:prstGeom prst="rect">
            <a:avLst/>
          </a:prstGeom>
        </p:spPr>
        <p:txBody>
          <a:bodyPr/>
          <a:lstStyle/>
          <a:p>
            <a:pPr algn="ctr"/>
            <a:fld id="{D37213CB-1ECD-4F3D-B179-C0F228892E9C}" type="slidenum">
              <a:rPr lang="es-ES_tradnl" noProof="0" smtClean="0"/>
              <a:pPr algn="ctr"/>
              <a:t>‹#›</a:t>
            </a:fld>
            <a:endParaRPr lang="es-ES_tradnl" noProof="0"/>
          </a:p>
        </p:txBody>
      </p:sp>
    </p:spTree>
    <p:extLst>
      <p:ext uri="{BB962C8B-B14F-4D97-AF65-F5344CB8AC3E}">
        <p14:creationId xmlns:p14="http://schemas.microsoft.com/office/powerpoint/2010/main" val="3097566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s-ES_tradnl" noProof="0"/>
              <a:t>Haga clic para modificar el estilo de título del patrón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147730" y="1825625"/>
            <a:ext cx="3576671" cy="4351339"/>
          </a:xfrm>
        </p:spPr>
        <p:txBody>
          <a:bodyPr/>
          <a:lstStyle/>
          <a:p>
            <a:pPr lvl="0"/>
            <a:r>
              <a:rPr lang="es-ES_tradnl" noProof="0"/>
              <a:t>Haga clic para modificar el estilo de texto del patrón</a:t>
            </a:r>
          </a:p>
          <a:p>
            <a:pPr lvl="1"/>
            <a:r>
              <a:rPr lang="es-ES_tradnl" noProof="0"/>
              <a:t>Segundo nivel</a:t>
            </a:r>
          </a:p>
          <a:p>
            <a:pPr lvl="2"/>
            <a:r>
              <a:rPr lang="es-ES_tradnl" noProof="0"/>
              <a:t>Tercer nivel</a:t>
            </a:r>
          </a:p>
          <a:p>
            <a:pPr lvl="3"/>
            <a:r>
              <a:rPr lang="es-ES_tradnl" noProof="0"/>
              <a:t>Cuarto nivel</a:t>
            </a:r>
          </a:p>
          <a:p>
            <a:pPr lvl="4"/>
            <a:r>
              <a:rPr lang="es-ES_tradnl" noProof="0"/>
              <a:t>Quinto nivel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892041" y="1825625"/>
            <a:ext cx="3623311" cy="4351339"/>
          </a:xfrm>
        </p:spPr>
        <p:txBody>
          <a:bodyPr/>
          <a:lstStyle/>
          <a:p>
            <a:pPr lvl="0"/>
            <a:r>
              <a:rPr lang="es-ES_tradnl" noProof="0"/>
              <a:t>Haga clic para modificar el estilo de texto del patrón</a:t>
            </a:r>
          </a:p>
          <a:p>
            <a:pPr lvl="1"/>
            <a:r>
              <a:rPr lang="es-ES_tradnl" noProof="0"/>
              <a:t>Segundo nivel</a:t>
            </a:r>
          </a:p>
          <a:p>
            <a:pPr lvl="2"/>
            <a:r>
              <a:rPr lang="es-ES_tradnl" noProof="0"/>
              <a:t>Tercer nivel</a:t>
            </a:r>
          </a:p>
          <a:p>
            <a:pPr lvl="3"/>
            <a:r>
              <a:rPr lang="es-ES_tradnl" noProof="0"/>
              <a:t>Cuarto nivel</a:t>
            </a:r>
          </a:p>
          <a:p>
            <a:pPr lvl="4"/>
            <a:r>
              <a:rPr lang="es-ES_tradnl" noProof="0"/>
              <a:t>Quinto nivel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0"/>
          </p:nvPr>
        </p:nvSpPr>
        <p:spPr>
          <a:xfrm>
            <a:off x="8214885" y="6451178"/>
            <a:ext cx="671728" cy="366183"/>
          </a:xfrm>
          <a:prstGeom prst="rect">
            <a:avLst/>
          </a:prstGeom>
        </p:spPr>
        <p:txBody>
          <a:bodyPr/>
          <a:lstStyle/>
          <a:p>
            <a:pPr algn="ctr"/>
            <a:fld id="{D37213CB-1ECD-4F3D-B179-C0F228892E9C}" type="slidenum">
              <a:rPr lang="es-ES_tradnl" noProof="0" smtClean="0"/>
              <a:pPr algn="ctr"/>
              <a:t>‹#›</a:t>
            </a:fld>
            <a:endParaRPr lang="es-ES_tradnl" noProof="0"/>
          </a:p>
        </p:txBody>
      </p:sp>
    </p:spTree>
    <p:extLst>
      <p:ext uri="{BB962C8B-B14F-4D97-AF65-F5344CB8AC3E}">
        <p14:creationId xmlns:p14="http://schemas.microsoft.com/office/powerpoint/2010/main" val="1631128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214885" y="6451178"/>
            <a:ext cx="671728" cy="36618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pPr algn="ctr"/>
            <a:fld id="{D37213CB-1ECD-4F3D-B179-C0F228892E9C}" type="slidenum">
              <a:rPr lang="es-ES" smtClean="0"/>
              <a:pPr algn="ctr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7416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099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a de se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10"/>
          <p:cNvSpPr>
            <a:spLocks noChangeShapeType="1"/>
          </p:cNvSpPr>
          <p:nvPr/>
        </p:nvSpPr>
        <p:spPr bwMode="auto">
          <a:xfrm>
            <a:off x="820739" y="2420939"/>
            <a:ext cx="0" cy="914400"/>
          </a:xfrm>
          <a:prstGeom prst="line">
            <a:avLst/>
          </a:prstGeom>
          <a:noFill/>
          <a:ln w="9525">
            <a:solidFill>
              <a:srgbClr val="163E8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1"/>
          </a:p>
        </p:txBody>
      </p:sp>
      <p:sp>
        <p:nvSpPr>
          <p:cNvPr id="7" name="Line 11"/>
          <p:cNvSpPr>
            <a:spLocks noChangeShapeType="1"/>
          </p:cNvSpPr>
          <p:nvPr/>
        </p:nvSpPr>
        <p:spPr bwMode="auto">
          <a:xfrm flipH="1">
            <a:off x="582613" y="3186113"/>
            <a:ext cx="493712" cy="0"/>
          </a:xfrm>
          <a:prstGeom prst="line">
            <a:avLst/>
          </a:prstGeom>
          <a:noFill/>
          <a:ln w="9525">
            <a:solidFill>
              <a:srgbClr val="163E8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1"/>
          </a:p>
        </p:txBody>
      </p:sp>
      <p:sp>
        <p:nvSpPr>
          <p:cNvPr id="8" name="Line 12"/>
          <p:cNvSpPr>
            <a:spLocks noChangeShapeType="1"/>
          </p:cNvSpPr>
          <p:nvPr/>
        </p:nvSpPr>
        <p:spPr bwMode="auto">
          <a:xfrm flipV="1">
            <a:off x="850900" y="1433513"/>
            <a:ext cx="0" cy="304800"/>
          </a:xfrm>
          <a:prstGeom prst="line">
            <a:avLst/>
          </a:prstGeom>
          <a:noFill/>
          <a:ln w="9525">
            <a:solidFill>
              <a:srgbClr val="163E8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1"/>
          </a:p>
        </p:txBody>
      </p:sp>
      <p:sp>
        <p:nvSpPr>
          <p:cNvPr id="9" name="Line 13"/>
          <p:cNvSpPr>
            <a:spLocks noChangeShapeType="1"/>
          </p:cNvSpPr>
          <p:nvPr/>
        </p:nvSpPr>
        <p:spPr bwMode="auto">
          <a:xfrm flipH="1" flipV="1">
            <a:off x="754065" y="1557339"/>
            <a:ext cx="352425" cy="0"/>
          </a:xfrm>
          <a:prstGeom prst="line">
            <a:avLst/>
          </a:prstGeom>
          <a:noFill/>
          <a:ln w="9525">
            <a:solidFill>
              <a:srgbClr val="163E8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1"/>
          </a:p>
        </p:txBody>
      </p:sp>
      <p:sp>
        <p:nvSpPr>
          <p:cNvPr id="10" name="Line 14"/>
          <p:cNvSpPr>
            <a:spLocks noChangeShapeType="1"/>
          </p:cNvSpPr>
          <p:nvPr/>
        </p:nvSpPr>
        <p:spPr bwMode="auto">
          <a:xfrm>
            <a:off x="2516188" y="1268413"/>
            <a:ext cx="0" cy="914400"/>
          </a:xfrm>
          <a:prstGeom prst="line">
            <a:avLst/>
          </a:prstGeom>
          <a:noFill/>
          <a:ln w="9525">
            <a:solidFill>
              <a:srgbClr val="163E8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1"/>
          </a:p>
        </p:txBody>
      </p:sp>
      <p:sp>
        <p:nvSpPr>
          <p:cNvPr id="11" name="Line 15"/>
          <p:cNvSpPr>
            <a:spLocks noChangeShapeType="1"/>
          </p:cNvSpPr>
          <p:nvPr/>
        </p:nvSpPr>
        <p:spPr bwMode="auto">
          <a:xfrm flipH="1">
            <a:off x="2163763" y="1544639"/>
            <a:ext cx="493712" cy="0"/>
          </a:xfrm>
          <a:prstGeom prst="line">
            <a:avLst/>
          </a:prstGeom>
          <a:noFill/>
          <a:ln w="9525">
            <a:solidFill>
              <a:srgbClr val="163E8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1"/>
          </a:p>
        </p:txBody>
      </p:sp>
      <p:sp>
        <p:nvSpPr>
          <p:cNvPr id="12" name="Line 16"/>
          <p:cNvSpPr>
            <a:spLocks noChangeShapeType="1"/>
          </p:cNvSpPr>
          <p:nvPr/>
        </p:nvSpPr>
        <p:spPr bwMode="auto">
          <a:xfrm flipV="1">
            <a:off x="877888" y="5211763"/>
            <a:ext cx="0" cy="304800"/>
          </a:xfrm>
          <a:prstGeom prst="line">
            <a:avLst/>
          </a:prstGeom>
          <a:noFill/>
          <a:ln w="9525">
            <a:solidFill>
              <a:srgbClr val="163E8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1"/>
          </a:p>
        </p:txBody>
      </p:sp>
      <p:sp>
        <p:nvSpPr>
          <p:cNvPr id="13" name="Line 17"/>
          <p:cNvSpPr>
            <a:spLocks noChangeShapeType="1"/>
          </p:cNvSpPr>
          <p:nvPr/>
        </p:nvSpPr>
        <p:spPr bwMode="auto">
          <a:xfrm flipH="1" flipV="1">
            <a:off x="781052" y="5335588"/>
            <a:ext cx="352425" cy="0"/>
          </a:xfrm>
          <a:prstGeom prst="line">
            <a:avLst/>
          </a:prstGeom>
          <a:noFill/>
          <a:ln w="9525">
            <a:solidFill>
              <a:srgbClr val="163E8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1"/>
          </a:p>
        </p:txBody>
      </p:sp>
      <p:sp>
        <p:nvSpPr>
          <p:cNvPr id="14" name="Line 18"/>
          <p:cNvSpPr>
            <a:spLocks noChangeShapeType="1"/>
          </p:cNvSpPr>
          <p:nvPr/>
        </p:nvSpPr>
        <p:spPr bwMode="auto">
          <a:xfrm>
            <a:off x="7697788" y="3732213"/>
            <a:ext cx="0" cy="914400"/>
          </a:xfrm>
          <a:prstGeom prst="line">
            <a:avLst/>
          </a:prstGeom>
          <a:noFill/>
          <a:ln w="9525">
            <a:solidFill>
              <a:srgbClr val="163E8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1"/>
          </a:p>
        </p:txBody>
      </p:sp>
      <p:sp>
        <p:nvSpPr>
          <p:cNvPr id="15" name="Line 19"/>
          <p:cNvSpPr>
            <a:spLocks noChangeShapeType="1"/>
          </p:cNvSpPr>
          <p:nvPr/>
        </p:nvSpPr>
        <p:spPr bwMode="auto">
          <a:xfrm flipH="1">
            <a:off x="7345363" y="4008437"/>
            <a:ext cx="493712" cy="0"/>
          </a:xfrm>
          <a:prstGeom prst="line">
            <a:avLst/>
          </a:prstGeom>
          <a:noFill/>
          <a:ln w="9525">
            <a:solidFill>
              <a:srgbClr val="163E8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1"/>
          </a:p>
        </p:txBody>
      </p:sp>
      <p:sp>
        <p:nvSpPr>
          <p:cNvPr id="16" name="15 Rectángulo"/>
          <p:cNvSpPr>
            <a:spLocks noChangeArrowheads="1"/>
          </p:cNvSpPr>
          <p:nvPr/>
        </p:nvSpPr>
        <p:spPr bwMode="auto">
          <a:xfrm>
            <a:off x="1" y="6389688"/>
            <a:ext cx="7143751" cy="468312"/>
          </a:xfrm>
          <a:prstGeom prst="rect">
            <a:avLst/>
          </a:prstGeom>
          <a:solidFill>
            <a:srgbClr val="163E83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Optima" panose="02000503060000020004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tima" panose="02000503060000020004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tima" panose="02000503060000020004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tima" panose="02000503060000020004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tima" panose="02000503060000020004" pitchFamily="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tima" panose="02000503060000020004" pitchFamily="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tima" panose="02000503060000020004" pitchFamily="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tima" panose="02000503060000020004" pitchFamily="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tima" panose="02000503060000020004" pitchFamily="2" charset="0"/>
              </a:defRPr>
            </a:lvl9pPr>
          </a:lstStyle>
          <a:p>
            <a:pPr algn="ctr" eaLnBrk="1" hangingPunct="1"/>
            <a:endParaRPr lang="es-ES" altLang="es-ES" sz="1351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874836" y="1587502"/>
            <a:ext cx="1587011" cy="1552575"/>
          </a:xfrm>
          <a:solidFill>
            <a:schemeClr val="accent1">
              <a:lumMod val="40000"/>
              <a:lumOff val="60000"/>
            </a:schemeClr>
          </a:solidFill>
          <a:ln w="9525"/>
        </p:spPr>
        <p:txBody>
          <a:bodyPr anchor="ctr"/>
          <a:lstStyle>
            <a:lvl1pPr algn="ctr">
              <a:defRPr sz="6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s-ES" dirty="0"/>
              <a:t>1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874836" y="4014788"/>
            <a:ext cx="6821365" cy="1314451"/>
          </a:xfrm>
          <a:noFill/>
        </p:spPr>
        <p:txBody>
          <a:bodyPr tIns="108000" bIns="108000" anchor="ctr"/>
          <a:lstStyle>
            <a:lvl1pPr marL="271456" indent="-271456" algn="ctr" eaLnBrk="1" hangingPunct="1">
              <a:buNone/>
              <a:defRPr sz="360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subtítulo del patrón</a:t>
            </a:r>
            <a:endParaRPr lang="es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8701A1F-3DDD-41D4-A1D1-2F23B1D036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3488" y="5969905"/>
            <a:ext cx="1691677" cy="88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900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0641" y="-1"/>
            <a:ext cx="9218639" cy="685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71520" y="1939610"/>
            <a:ext cx="5618480" cy="2341244"/>
          </a:xfrm>
        </p:spPr>
        <p:txBody>
          <a:bodyPr anchor="t">
            <a:noAutofit/>
          </a:bodyPr>
          <a:lstStyle>
            <a:lvl1pPr>
              <a:defRPr lang="en-US" sz="3733" b="1" noProof="0" dirty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 defTabSz="914354"/>
            <a:r>
              <a:rPr lang="es-ES_tradnl" noProof="0" dirty="0"/>
              <a:t>Haga clic para modificar el estilo de título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271520" y="4819333"/>
            <a:ext cx="5618480" cy="1500187"/>
          </a:xfrm>
        </p:spPr>
        <p:txBody>
          <a:bodyPr>
            <a:normAutofit/>
          </a:bodyPr>
          <a:lstStyle>
            <a:lvl1pPr>
              <a:defRPr lang="en-US" sz="2800" noProof="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228589" lvl="0" indent="-228589" defTabSz="914354">
              <a:buFont typeface="Wingdings" panose="05000000000000000000" pitchFamily="2" charset="2"/>
              <a:buChar char="§"/>
            </a:pPr>
            <a:r>
              <a:rPr lang="es-ES_tradnl" noProof="0"/>
              <a:t>Haga clic para modificar el estilo de texto del patrón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B6DF747-F3CE-4E1E-A11E-BAE870BD01CB}"/>
              </a:ext>
            </a:extLst>
          </p:cNvPr>
          <p:cNvSpPr/>
          <p:nvPr userDrawn="1"/>
        </p:nvSpPr>
        <p:spPr>
          <a:xfrm>
            <a:off x="-40640" y="6588760"/>
            <a:ext cx="1524000" cy="2692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21F19D-C1F2-A541-A1F7-74A8AD3A04A6}"/>
              </a:ext>
            </a:extLst>
          </p:cNvPr>
          <p:cNvSpPr txBox="1"/>
          <p:nvPr userDrawn="1"/>
        </p:nvSpPr>
        <p:spPr>
          <a:xfrm>
            <a:off x="3271520" y="260648"/>
            <a:ext cx="43572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b="1" noProof="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ICAI – Máster en Tecnologías de Telecomunicación</a:t>
            </a:r>
          </a:p>
        </p:txBody>
      </p:sp>
    </p:spTree>
    <p:extLst>
      <p:ext uri="{BB962C8B-B14F-4D97-AF65-F5344CB8AC3E}">
        <p14:creationId xmlns:p14="http://schemas.microsoft.com/office/powerpoint/2010/main" val="1812638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s-ES_tradnl" noProof="0"/>
              <a:t>Haga clic para modificar el estilo de título del patrón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s-ES_tradnl" noProof="0"/>
              <a:t>Haga clic para modificar el estilo de texto del patrón</a:t>
            </a:r>
          </a:p>
          <a:p>
            <a:pPr lvl="1"/>
            <a:r>
              <a:rPr lang="es-ES_tradnl" noProof="0"/>
              <a:t>Segundo nivel</a:t>
            </a:r>
          </a:p>
          <a:p>
            <a:pPr lvl="2"/>
            <a:r>
              <a:rPr lang="es-ES_tradnl" noProof="0"/>
              <a:t>Tercer nivel</a:t>
            </a:r>
          </a:p>
          <a:p>
            <a:pPr lvl="3"/>
            <a:r>
              <a:rPr lang="es-ES_tradnl" noProof="0"/>
              <a:t>Cuarto nivel</a:t>
            </a:r>
          </a:p>
          <a:p>
            <a:pPr lvl="4"/>
            <a:r>
              <a:rPr lang="es-ES_tradnl" noProof="0"/>
              <a:t>Quinto nivel</a:t>
            </a:r>
          </a:p>
        </p:txBody>
      </p:sp>
      <p:sp>
        <p:nvSpPr>
          <p:cNvPr id="10" name="9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214885" y="6451178"/>
            <a:ext cx="671728" cy="366183"/>
          </a:xfrm>
          <a:prstGeom prst="rect">
            <a:avLst/>
          </a:prstGeom>
        </p:spPr>
        <p:txBody>
          <a:bodyPr/>
          <a:lstStyle/>
          <a:p>
            <a:pPr algn="ctr"/>
            <a:fld id="{D37213CB-1ECD-4F3D-B179-C0F228892E9C}" type="slidenum">
              <a:rPr lang="es-ES_tradnl" noProof="0" smtClean="0"/>
              <a:pPr algn="ctr"/>
              <a:t>‹#›</a:t>
            </a:fld>
            <a:endParaRPr lang="es-ES_tradnl" noProof="0"/>
          </a:p>
        </p:txBody>
      </p:sp>
    </p:spTree>
    <p:extLst>
      <p:ext uri="{BB962C8B-B14F-4D97-AF65-F5344CB8AC3E}">
        <p14:creationId xmlns:p14="http://schemas.microsoft.com/office/powerpoint/2010/main" val="3097566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s-ES_tradnl" noProof="0"/>
              <a:t>Haga clic para modificar el estilo de título del patrón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147730" y="1825625"/>
            <a:ext cx="3576671" cy="4351339"/>
          </a:xfrm>
        </p:spPr>
        <p:txBody>
          <a:bodyPr/>
          <a:lstStyle/>
          <a:p>
            <a:pPr lvl="0"/>
            <a:r>
              <a:rPr lang="es-ES_tradnl" noProof="0"/>
              <a:t>Haga clic para modificar el estilo de texto del patrón</a:t>
            </a:r>
          </a:p>
          <a:p>
            <a:pPr lvl="1"/>
            <a:r>
              <a:rPr lang="es-ES_tradnl" noProof="0"/>
              <a:t>Segundo nivel</a:t>
            </a:r>
          </a:p>
          <a:p>
            <a:pPr lvl="2"/>
            <a:r>
              <a:rPr lang="es-ES_tradnl" noProof="0"/>
              <a:t>Tercer nivel</a:t>
            </a:r>
          </a:p>
          <a:p>
            <a:pPr lvl="3"/>
            <a:r>
              <a:rPr lang="es-ES_tradnl" noProof="0"/>
              <a:t>Cuarto nivel</a:t>
            </a:r>
          </a:p>
          <a:p>
            <a:pPr lvl="4"/>
            <a:r>
              <a:rPr lang="es-ES_tradnl" noProof="0"/>
              <a:t>Quinto nivel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892041" y="1825625"/>
            <a:ext cx="3623311" cy="4351339"/>
          </a:xfrm>
        </p:spPr>
        <p:txBody>
          <a:bodyPr/>
          <a:lstStyle/>
          <a:p>
            <a:pPr lvl="0"/>
            <a:r>
              <a:rPr lang="es-ES_tradnl" noProof="0"/>
              <a:t>Haga clic para modificar el estilo de texto del patrón</a:t>
            </a:r>
          </a:p>
          <a:p>
            <a:pPr lvl="1"/>
            <a:r>
              <a:rPr lang="es-ES_tradnl" noProof="0"/>
              <a:t>Segundo nivel</a:t>
            </a:r>
          </a:p>
          <a:p>
            <a:pPr lvl="2"/>
            <a:r>
              <a:rPr lang="es-ES_tradnl" noProof="0"/>
              <a:t>Tercer nivel</a:t>
            </a:r>
          </a:p>
          <a:p>
            <a:pPr lvl="3"/>
            <a:r>
              <a:rPr lang="es-ES_tradnl" noProof="0"/>
              <a:t>Cuarto nivel</a:t>
            </a:r>
          </a:p>
          <a:p>
            <a:pPr lvl="4"/>
            <a:r>
              <a:rPr lang="es-ES_tradnl" noProof="0"/>
              <a:t>Quinto nivel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0"/>
          </p:nvPr>
        </p:nvSpPr>
        <p:spPr>
          <a:xfrm>
            <a:off x="8214885" y="6451178"/>
            <a:ext cx="671728" cy="366183"/>
          </a:xfrm>
          <a:prstGeom prst="rect">
            <a:avLst/>
          </a:prstGeom>
        </p:spPr>
        <p:txBody>
          <a:bodyPr/>
          <a:lstStyle/>
          <a:p>
            <a:pPr algn="ctr"/>
            <a:fld id="{D37213CB-1ECD-4F3D-B179-C0F228892E9C}" type="slidenum">
              <a:rPr lang="es-ES_tradnl" noProof="0" smtClean="0"/>
              <a:pPr algn="ctr"/>
              <a:t>‹#›</a:t>
            </a:fld>
            <a:endParaRPr lang="es-ES_tradnl" noProof="0"/>
          </a:p>
        </p:txBody>
      </p:sp>
    </p:spTree>
    <p:extLst>
      <p:ext uri="{BB962C8B-B14F-4D97-AF65-F5344CB8AC3E}">
        <p14:creationId xmlns:p14="http://schemas.microsoft.com/office/powerpoint/2010/main" val="1631128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214885" y="6451178"/>
            <a:ext cx="671728" cy="36618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pPr algn="ctr"/>
            <a:fld id="{D37213CB-1ECD-4F3D-B179-C0F228892E9C}" type="slidenum">
              <a:rPr lang="es-ES" smtClean="0"/>
              <a:pPr algn="ctr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7416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0990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a de se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10"/>
          <p:cNvSpPr>
            <a:spLocks noChangeShapeType="1"/>
          </p:cNvSpPr>
          <p:nvPr/>
        </p:nvSpPr>
        <p:spPr bwMode="auto">
          <a:xfrm>
            <a:off x="820739" y="2420939"/>
            <a:ext cx="0" cy="914400"/>
          </a:xfrm>
          <a:prstGeom prst="line">
            <a:avLst/>
          </a:prstGeom>
          <a:noFill/>
          <a:ln w="9525">
            <a:solidFill>
              <a:srgbClr val="163E8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1"/>
          </a:p>
        </p:txBody>
      </p:sp>
      <p:sp>
        <p:nvSpPr>
          <p:cNvPr id="7" name="Line 11"/>
          <p:cNvSpPr>
            <a:spLocks noChangeShapeType="1"/>
          </p:cNvSpPr>
          <p:nvPr/>
        </p:nvSpPr>
        <p:spPr bwMode="auto">
          <a:xfrm flipH="1">
            <a:off x="582613" y="3186113"/>
            <a:ext cx="493712" cy="0"/>
          </a:xfrm>
          <a:prstGeom prst="line">
            <a:avLst/>
          </a:prstGeom>
          <a:noFill/>
          <a:ln w="9525">
            <a:solidFill>
              <a:srgbClr val="163E8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1"/>
          </a:p>
        </p:txBody>
      </p:sp>
      <p:sp>
        <p:nvSpPr>
          <p:cNvPr id="8" name="Line 12"/>
          <p:cNvSpPr>
            <a:spLocks noChangeShapeType="1"/>
          </p:cNvSpPr>
          <p:nvPr/>
        </p:nvSpPr>
        <p:spPr bwMode="auto">
          <a:xfrm flipV="1">
            <a:off x="850900" y="1433513"/>
            <a:ext cx="0" cy="304800"/>
          </a:xfrm>
          <a:prstGeom prst="line">
            <a:avLst/>
          </a:prstGeom>
          <a:noFill/>
          <a:ln w="9525">
            <a:solidFill>
              <a:srgbClr val="163E8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1"/>
          </a:p>
        </p:txBody>
      </p:sp>
      <p:sp>
        <p:nvSpPr>
          <p:cNvPr id="9" name="Line 13"/>
          <p:cNvSpPr>
            <a:spLocks noChangeShapeType="1"/>
          </p:cNvSpPr>
          <p:nvPr/>
        </p:nvSpPr>
        <p:spPr bwMode="auto">
          <a:xfrm flipH="1" flipV="1">
            <a:off x="754065" y="1557339"/>
            <a:ext cx="352425" cy="0"/>
          </a:xfrm>
          <a:prstGeom prst="line">
            <a:avLst/>
          </a:prstGeom>
          <a:noFill/>
          <a:ln w="9525">
            <a:solidFill>
              <a:srgbClr val="163E8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1"/>
          </a:p>
        </p:txBody>
      </p:sp>
      <p:sp>
        <p:nvSpPr>
          <p:cNvPr id="10" name="Line 14"/>
          <p:cNvSpPr>
            <a:spLocks noChangeShapeType="1"/>
          </p:cNvSpPr>
          <p:nvPr/>
        </p:nvSpPr>
        <p:spPr bwMode="auto">
          <a:xfrm>
            <a:off x="2516188" y="1268413"/>
            <a:ext cx="0" cy="914400"/>
          </a:xfrm>
          <a:prstGeom prst="line">
            <a:avLst/>
          </a:prstGeom>
          <a:noFill/>
          <a:ln w="9525">
            <a:solidFill>
              <a:srgbClr val="163E8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1"/>
          </a:p>
        </p:txBody>
      </p:sp>
      <p:sp>
        <p:nvSpPr>
          <p:cNvPr id="11" name="Line 15"/>
          <p:cNvSpPr>
            <a:spLocks noChangeShapeType="1"/>
          </p:cNvSpPr>
          <p:nvPr/>
        </p:nvSpPr>
        <p:spPr bwMode="auto">
          <a:xfrm flipH="1">
            <a:off x="2163763" y="1544639"/>
            <a:ext cx="493712" cy="0"/>
          </a:xfrm>
          <a:prstGeom prst="line">
            <a:avLst/>
          </a:prstGeom>
          <a:noFill/>
          <a:ln w="9525">
            <a:solidFill>
              <a:srgbClr val="163E8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1"/>
          </a:p>
        </p:txBody>
      </p:sp>
      <p:sp>
        <p:nvSpPr>
          <p:cNvPr id="12" name="Line 16"/>
          <p:cNvSpPr>
            <a:spLocks noChangeShapeType="1"/>
          </p:cNvSpPr>
          <p:nvPr/>
        </p:nvSpPr>
        <p:spPr bwMode="auto">
          <a:xfrm flipV="1">
            <a:off x="877888" y="5211763"/>
            <a:ext cx="0" cy="304800"/>
          </a:xfrm>
          <a:prstGeom prst="line">
            <a:avLst/>
          </a:prstGeom>
          <a:noFill/>
          <a:ln w="9525">
            <a:solidFill>
              <a:srgbClr val="163E8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1"/>
          </a:p>
        </p:txBody>
      </p:sp>
      <p:sp>
        <p:nvSpPr>
          <p:cNvPr id="13" name="Line 17"/>
          <p:cNvSpPr>
            <a:spLocks noChangeShapeType="1"/>
          </p:cNvSpPr>
          <p:nvPr/>
        </p:nvSpPr>
        <p:spPr bwMode="auto">
          <a:xfrm flipH="1" flipV="1">
            <a:off x="781052" y="5335588"/>
            <a:ext cx="352425" cy="0"/>
          </a:xfrm>
          <a:prstGeom prst="line">
            <a:avLst/>
          </a:prstGeom>
          <a:noFill/>
          <a:ln w="9525">
            <a:solidFill>
              <a:srgbClr val="163E8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1"/>
          </a:p>
        </p:txBody>
      </p:sp>
      <p:sp>
        <p:nvSpPr>
          <p:cNvPr id="14" name="Line 18"/>
          <p:cNvSpPr>
            <a:spLocks noChangeShapeType="1"/>
          </p:cNvSpPr>
          <p:nvPr/>
        </p:nvSpPr>
        <p:spPr bwMode="auto">
          <a:xfrm>
            <a:off x="7697788" y="3732213"/>
            <a:ext cx="0" cy="914400"/>
          </a:xfrm>
          <a:prstGeom prst="line">
            <a:avLst/>
          </a:prstGeom>
          <a:noFill/>
          <a:ln w="9525">
            <a:solidFill>
              <a:srgbClr val="163E8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1"/>
          </a:p>
        </p:txBody>
      </p:sp>
      <p:sp>
        <p:nvSpPr>
          <p:cNvPr id="15" name="Line 19"/>
          <p:cNvSpPr>
            <a:spLocks noChangeShapeType="1"/>
          </p:cNvSpPr>
          <p:nvPr/>
        </p:nvSpPr>
        <p:spPr bwMode="auto">
          <a:xfrm flipH="1">
            <a:off x="7345363" y="4008437"/>
            <a:ext cx="493712" cy="0"/>
          </a:xfrm>
          <a:prstGeom prst="line">
            <a:avLst/>
          </a:prstGeom>
          <a:noFill/>
          <a:ln w="9525">
            <a:solidFill>
              <a:srgbClr val="163E8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1"/>
          </a:p>
        </p:txBody>
      </p:sp>
      <p:sp>
        <p:nvSpPr>
          <p:cNvPr id="16" name="15 Rectángulo"/>
          <p:cNvSpPr>
            <a:spLocks noChangeArrowheads="1"/>
          </p:cNvSpPr>
          <p:nvPr/>
        </p:nvSpPr>
        <p:spPr bwMode="auto">
          <a:xfrm>
            <a:off x="1" y="6389688"/>
            <a:ext cx="7143751" cy="468312"/>
          </a:xfrm>
          <a:prstGeom prst="rect">
            <a:avLst/>
          </a:prstGeom>
          <a:solidFill>
            <a:srgbClr val="163E83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Optima" panose="02000503060000020004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tima" panose="02000503060000020004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tima" panose="02000503060000020004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tima" panose="02000503060000020004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tima" panose="02000503060000020004" pitchFamily="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tima" panose="02000503060000020004" pitchFamily="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tima" panose="02000503060000020004" pitchFamily="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tima" panose="02000503060000020004" pitchFamily="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tima" panose="02000503060000020004" pitchFamily="2" charset="0"/>
              </a:defRPr>
            </a:lvl9pPr>
          </a:lstStyle>
          <a:p>
            <a:pPr algn="ctr" eaLnBrk="1" hangingPunct="1"/>
            <a:endParaRPr lang="es-ES" altLang="es-ES" sz="1351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874836" y="1587502"/>
            <a:ext cx="1587011" cy="1552575"/>
          </a:xfrm>
          <a:solidFill>
            <a:schemeClr val="accent1">
              <a:lumMod val="40000"/>
              <a:lumOff val="60000"/>
            </a:schemeClr>
          </a:solidFill>
          <a:ln w="9525"/>
        </p:spPr>
        <p:txBody>
          <a:bodyPr anchor="ctr"/>
          <a:lstStyle>
            <a:lvl1pPr algn="ctr">
              <a:defRPr sz="6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s-ES" dirty="0"/>
              <a:t>1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874836" y="4014788"/>
            <a:ext cx="6821365" cy="1314451"/>
          </a:xfrm>
          <a:noFill/>
        </p:spPr>
        <p:txBody>
          <a:bodyPr tIns="108000" bIns="108000" anchor="ctr"/>
          <a:lstStyle>
            <a:lvl1pPr marL="271456" indent="-271456" algn="ctr" eaLnBrk="1" hangingPunct="1">
              <a:buNone/>
              <a:defRPr sz="360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subtítulo del patrón</a:t>
            </a:r>
            <a:endParaRPr lang="es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8701A1F-3DDD-41D4-A1D1-2F23B1D036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3488" y="5969905"/>
            <a:ext cx="1691677" cy="88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900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microsoft.com/office/2007/relationships/hdphoto" Target="../media/hdphoto1.wdp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10.xml"/><Relationship Id="rId9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/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r="1458" b="11233"/>
          <a:stretch/>
        </p:blipFill>
        <p:spPr>
          <a:xfrm>
            <a:off x="5306096" y="2420247"/>
            <a:ext cx="3837904" cy="393927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3319" y="80576"/>
            <a:ext cx="7912188" cy="101670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/>
          <a:p>
            <a:r>
              <a:rPr lang="es-ES_tradnl" noProof="0"/>
              <a:t>Haga clic para modificar el estilo de título del patrón</a:t>
            </a:r>
            <a:endParaRPr lang="es-ES_tradnl" noProof="0" dirty="0"/>
          </a:p>
        </p:txBody>
      </p:sp>
      <p:sp>
        <p:nvSpPr>
          <p:cNvPr id="12" name="Rectangle 50"/>
          <p:cNvSpPr>
            <a:spLocks noChangeArrowheads="1"/>
          </p:cNvSpPr>
          <p:nvPr/>
        </p:nvSpPr>
        <p:spPr bwMode="auto">
          <a:xfrm>
            <a:off x="896096" y="6399284"/>
            <a:ext cx="4451569" cy="48902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 lIns="120649" tIns="59267" rIns="120649" bIns="59267">
            <a:spAutoFit/>
          </a:bodyPr>
          <a:lstStyle/>
          <a:p>
            <a:pPr algn="l" defTabSz="1015975" eaLnBrk="0" hangingPunct="0">
              <a:defRPr/>
            </a:pPr>
            <a:r>
              <a:rPr lang="es-ES_tradnl" sz="1200" b="1" noProof="0">
                <a:solidFill>
                  <a:schemeClr val="tx1"/>
                </a:solidFill>
                <a:latin typeface="+mj-lt"/>
              </a:rPr>
              <a:t>Multitask-Stockformer</a:t>
            </a:r>
          </a:p>
          <a:p>
            <a:pPr algn="l" defTabSz="1015975" eaLnBrk="0" hangingPunct="0">
              <a:defRPr/>
            </a:pPr>
            <a:r>
              <a:rPr lang="es-ES_tradnl" sz="1200" b="1" noProof="0">
                <a:solidFill>
                  <a:srgbClr val="808080"/>
                </a:solidFill>
                <a:latin typeface="+mj-lt"/>
              </a:rPr>
              <a:t>ICAI - Máster en Telecomunicación</a:t>
            </a:r>
            <a:endParaRPr lang="es-ES_tradnl" sz="1200" b="1" noProof="0" dirty="0">
              <a:solidFill>
                <a:srgbClr val="808080"/>
              </a:solidFill>
              <a:latin typeface="+mj-lt"/>
            </a:endParaRPr>
          </a:p>
        </p:txBody>
      </p:sp>
      <p:sp>
        <p:nvSpPr>
          <p:cNvPr id="13" name="Rectangle 50"/>
          <p:cNvSpPr>
            <a:spLocks noChangeArrowheads="1"/>
          </p:cNvSpPr>
          <p:nvPr/>
        </p:nvSpPr>
        <p:spPr bwMode="auto">
          <a:xfrm>
            <a:off x="3562840" y="6400692"/>
            <a:ext cx="4451569" cy="48902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 lIns="120649" tIns="59267" rIns="120649" bIns="59267">
            <a:spAutoFit/>
          </a:bodyPr>
          <a:lstStyle/>
          <a:p>
            <a:pPr algn="r" defTabSz="1015975" eaLnBrk="0" hangingPunct="0">
              <a:defRPr/>
            </a:pPr>
            <a:r>
              <a:rPr lang="es-ES_tradnl" sz="1200" b="1" noProof="0">
                <a:solidFill>
                  <a:schemeClr val="tx1"/>
                </a:solidFill>
                <a:latin typeface="+mj-lt"/>
              </a:rPr>
              <a:t>Seguimiento TFM</a:t>
            </a:r>
          </a:p>
          <a:p>
            <a:pPr algn="r" defTabSz="1015975" eaLnBrk="0" hangingPunct="0">
              <a:defRPr/>
            </a:pPr>
            <a:r>
              <a:rPr lang="es-ES_tradnl" sz="1200" b="1">
                <a:solidFill>
                  <a:srgbClr val="808080"/>
                </a:solidFill>
                <a:latin typeface="+mj-lt"/>
              </a:rPr>
              <a:t>Marzo 2026</a:t>
            </a:r>
            <a:endParaRPr lang="es-ES_tradnl" sz="1200" b="1" dirty="0">
              <a:solidFill>
                <a:srgbClr val="808080"/>
              </a:solidFill>
              <a:latin typeface="+mj-lt"/>
            </a:endParaRPr>
          </a:p>
        </p:txBody>
      </p:sp>
      <p:sp>
        <p:nvSpPr>
          <p:cNvPr id="14" name="Rectangle 41"/>
          <p:cNvSpPr>
            <a:spLocks noChangeArrowheads="1"/>
          </p:cNvSpPr>
          <p:nvPr/>
        </p:nvSpPr>
        <p:spPr bwMode="auto">
          <a:xfrm>
            <a:off x="8348708" y="6420739"/>
            <a:ext cx="522577" cy="407014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none" lIns="120649" tIns="59267" rIns="120649" bIns="59267">
            <a:spAutoFit/>
          </a:bodyPr>
          <a:lstStyle/>
          <a:p>
            <a:pPr algn="r" defTabSz="1015975" eaLnBrk="0" hangingPunct="0">
              <a:defRPr/>
            </a:pPr>
            <a:fld id="{11564133-8E01-494E-9A79-52127C69F167}" type="slidenum">
              <a:rPr lang="es-ES_tradnl" sz="1867" b="0" smtClean="0">
                <a:solidFill>
                  <a:schemeClr val="tx1"/>
                </a:solidFill>
                <a:latin typeface="+mj-lt"/>
              </a:rPr>
              <a:pPr algn="r" defTabSz="1015975" eaLnBrk="0" hangingPunct="0">
                <a:defRPr/>
              </a:pPr>
              <a:t>‹#›</a:t>
            </a:fld>
            <a:endParaRPr lang="es-ES_tradnl" sz="1867"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3319" y="1192107"/>
            <a:ext cx="7912188" cy="51612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s-ES_tradnl" noProof="0"/>
              <a:t>Haga clic para modificar el estilo de texto del patrón</a:t>
            </a:r>
          </a:p>
          <a:p>
            <a:pPr lvl="1"/>
            <a:r>
              <a:rPr lang="es-ES_tradnl" noProof="0"/>
              <a:t>Segundo nivel</a:t>
            </a:r>
          </a:p>
          <a:p>
            <a:pPr lvl="2"/>
            <a:r>
              <a:rPr lang="es-ES_tradnl" noProof="0"/>
              <a:t>Tercer nivel</a:t>
            </a:r>
          </a:p>
          <a:p>
            <a:pPr lvl="3"/>
            <a:r>
              <a:rPr lang="es-ES_tradnl" noProof="0"/>
              <a:t>Cuarto nivel</a:t>
            </a:r>
          </a:p>
          <a:p>
            <a:pPr lvl="5"/>
            <a:r>
              <a:rPr lang="es-ES_tradnl" noProof="0"/>
              <a:t>Quinto nivel</a:t>
            </a:r>
            <a:endParaRPr lang="es-ES_tradnl" noProof="0" dirty="0"/>
          </a:p>
        </p:txBody>
      </p:sp>
      <p:pic>
        <p:nvPicPr>
          <p:cNvPr id="5" name="Imagen 4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88851" y="165658"/>
            <a:ext cx="807244" cy="752975"/>
          </a:xfrm>
          <a:prstGeom prst="rect">
            <a:avLst/>
          </a:prstGeom>
        </p:spPr>
      </p:pic>
      <p:cxnSp>
        <p:nvCxnSpPr>
          <p:cNvPr id="9" name="Conector recto 8"/>
          <p:cNvCxnSpPr/>
          <p:nvPr userDrawn="1"/>
        </p:nvCxnSpPr>
        <p:spPr>
          <a:xfrm>
            <a:off x="933319" y="6437629"/>
            <a:ext cx="1460632" cy="0"/>
          </a:xfrm>
          <a:prstGeom prst="line">
            <a:avLst/>
          </a:prstGeom>
          <a:ln>
            <a:solidFill>
              <a:srgbClr val="173E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3152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</p:sldLayoutIdLst>
  <p:hf sldNum="0"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733" b="0" kern="1200">
          <a:solidFill>
            <a:schemeClr val="tx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j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j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+mj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/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r="1458" b="11233"/>
          <a:stretch/>
        </p:blipFill>
        <p:spPr>
          <a:xfrm>
            <a:off x="5306096" y="2420247"/>
            <a:ext cx="3837904" cy="393927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3319" y="80576"/>
            <a:ext cx="7912188" cy="101670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/>
          <a:p>
            <a:r>
              <a:rPr lang="es-ES_tradnl" noProof="0"/>
              <a:t>Haga clic para modificar el estilo de título del patrón</a:t>
            </a:r>
            <a:endParaRPr lang="es-ES_tradnl" noProof="0" dirty="0"/>
          </a:p>
        </p:txBody>
      </p:sp>
      <p:sp>
        <p:nvSpPr>
          <p:cNvPr id="12" name="Rectangle 50"/>
          <p:cNvSpPr>
            <a:spLocks noChangeArrowheads="1"/>
          </p:cNvSpPr>
          <p:nvPr/>
        </p:nvSpPr>
        <p:spPr bwMode="auto">
          <a:xfrm>
            <a:off x="896096" y="6399284"/>
            <a:ext cx="4451569" cy="48902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 lIns="120649" tIns="59267" rIns="120649" bIns="59267">
            <a:spAutoFit/>
          </a:bodyPr>
          <a:lstStyle/>
          <a:p>
            <a:pPr algn="l" defTabSz="1015975" eaLnBrk="0" hangingPunct="0">
              <a:defRPr/>
            </a:pPr>
            <a:r>
              <a:rPr lang="es-ES_tradnl" sz="1200" b="1" noProof="0">
                <a:solidFill>
                  <a:schemeClr val="tx1"/>
                </a:solidFill>
                <a:latin typeface="+mj-lt"/>
              </a:rPr>
              <a:t>Multitask-Stockformer</a:t>
            </a:r>
          </a:p>
          <a:p>
            <a:pPr algn="l" defTabSz="1015975" eaLnBrk="0" hangingPunct="0">
              <a:defRPr/>
            </a:pPr>
            <a:r>
              <a:rPr lang="es-ES_tradnl" sz="1200" b="1" noProof="0">
                <a:solidFill>
                  <a:srgbClr val="808080"/>
                </a:solidFill>
                <a:latin typeface="+mj-lt"/>
              </a:rPr>
              <a:t>ICAI - Máster en Telecomunicación</a:t>
            </a:r>
            <a:endParaRPr lang="es-ES_tradnl" sz="1200" b="1" noProof="0" dirty="0">
              <a:solidFill>
                <a:srgbClr val="808080"/>
              </a:solidFill>
              <a:latin typeface="+mj-lt"/>
            </a:endParaRPr>
          </a:p>
        </p:txBody>
      </p:sp>
      <p:sp>
        <p:nvSpPr>
          <p:cNvPr id="13" name="Rectangle 50"/>
          <p:cNvSpPr>
            <a:spLocks noChangeArrowheads="1"/>
          </p:cNvSpPr>
          <p:nvPr/>
        </p:nvSpPr>
        <p:spPr bwMode="auto">
          <a:xfrm>
            <a:off x="3562840" y="6400692"/>
            <a:ext cx="4451569" cy="48902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 lIns="120649" tIns="59267" rIns="120649" bIns="59267">
            <a:spAutoFit/>
          </a:bodyPr>
          <a:lstStyle/>
          <a:p>
            <a:pPr algn="r" defTabSz="1015975" eaLnBrk="0" hangingPunct="0">
              <a:defRPr/>
            </a:pPr>
            <a:r>
              <a:rPr lang="es-ES_tradnl" sz="1200" b="1" noProof="0">
                <a:solidFill>
                  <a:schemeClr val="tx1"/>
                </a:solidFill>
                <a:latin typeface="+mj-lt"/>
              </a:rPr>
              <a:t>Seguimiento TFM</a:t>
            </a:r>
          </a:p>
          <a:p>
            <a:pPr algn="r" defTabSz="1015975" eaLnBrk="0" hangingPunct="0">
              <a:defRPr/>
            </a:pPr>
            <a:r>
              <a:rPr lang="es-ES_tradnl" sz="1200" b="1">
                <a:solidFill>
                  <a:srgbClr val="808080"/>
                </a:solidFill>
                <a:latin typeface="+mj-lt"/>
              </a:rPr>
              <a:t>Marzo 2026</a:t>
            </a:r>
            <a:endParaRPr lang="es-ES_tradnl" sz="1200" b="1" dirty="0">
              <a:solidFill>
                <a:srgbClr val="808080"/>
              </a:solidFill>
              <a:latin typeface="+mj-lt"/>
            </a:endParaRPr>
          </a:p>
        </p:txBody>
      </p:sp>
      <p:sp>
        <p:nvSpPr>
          <p:cNvPr id="14" name="Rectangle 41"/>
          <p:cNvSpPr>
            <a:spLocks noChangeArrowheads="1"/>
          </p:cNvSpPr>
          <p:nvPr/>
        </p:nvSpPr>
        <p:spPr bwMode="auto">
          <a:xfrm>
            <a:off x="8348708" y="6420739"/>
            <a:ext cx="522577" cy="407014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none" lIns="120649" tIns="59267" rIns="120649" bIns="59267">
            <a:spAutoFit/>
          </a:bodyPr>
          <a:lstStyle/>
          <a:p>
            <a:pPr algn="r" defTabSz="1015975" eaLnBrk="0" hangingPunct="0">
              <a:defRPr/>
            </a:pPr>
            <a:fld id="{11564133-8E01-494E-9A79-52127C69F167}" type="slidenum">
              <a:rPr lang="es-ES_tradnl" sz="1867" b="0" smtClean="0">
                <a:solidFill>
                  <a:schemeClr val="tx1"/>
                </a:solidFill>
                <a:latin typeface="+mj-lt"/>
              </a:rPr>
              <a:pPr algn="r" defTabSz="1015975" eaLnBrk="0" hangingPunct="0">
                <a:defRPr/>
              </a:pPr>
              <a:t>‹#›</a:t>
            </a:fld>
            <a:endParaRPr lang="es-ES_tradnl" sz="1867"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3319" y="1192107"/>
            <a:ext cx="7912188" cy="51612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s-ES_tradnl" noProof="0"/>
              <a:t>Haga clic para modificar el estilo de texto del patrón</a:t>
            </a:r>
          </a:p>
          <a:p>
            <a:pPr lvl="1"/>
            <a:r>
              <a:rPr lang="es-ES_tradnl" noProof="0"/>
              <a:t>Segundo nivel</a:t>
            </a:r>
          </a:p>
          <a:p>
            <a:pPr lvl="2"/>
            <a:r>
              <a:rPr lang="es-ES_tradnl" noProof="0"/>
              <a:t>Tercer nivel</a:t>
            </a:r>
          </a:p>
          <a:p>
            <a:pPr lvl="3"/>
            <a:r>
              <a:rPr lang="es-ES_tradnl" noProof="0"/>
              <a:t>Cuarto nivel</a:t>
            </a:r>
          </a:p>
          <a:p>
            <a:pPr lvl="5"/>
            <a:r>
              <a:rPr lang="es-ES_tradnl" noProof="0"/>
              <a:t>Quinto nivel</a:t>
            </a:r>
            <a:endParaRPr lang="es-ES_tradnl" noProof="0" dirty="0"/>
          </a:p>
        </p:txBody>
      </p:sp>
      <p:pic>
        <p:nvPicPr>
          <p:cNvPr id="5" name="Imagen 4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88851" y="165658"/>
            <a:ext cx="807244" cy="752975"/>
          </a:xfrm>
          <a:prstGeom prst="rect">
            <a:avLst/>
          </a:prstGeom>
        </p:spPr>
      </p:pic>
      <p:cxnSp>
        <p:nvCxnSpPr>
          <p:cNvPr id="9" name="Conector recto 8"/>
          <p:cNvCxnSpPr/>
          <p:nvPr userDrawn="1"/>
        </p:nvCxnSpPr>
        <p:spPr>
          <a:xfrm>
            <a:off x="933319" y="6437629"/>
            <a:ext cx="1460632" cy="0"/>
          </a:xfrm>
          <a:prstGeom prst="line">
            <a:avLst/>
          </a:prstGeom>
          <a:ln>
            <a:solidFill>
              <a:srgbClr val="173E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3152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</p:sldLayoutIdLst>
  <p:hf sldNum="0"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733" b="0" kern="1200">
          <a:solidFill>
            <a:schemeClr val="tx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j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j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+mj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rgbClr val="1F4E79"/>
                </a:solidFill>
              </a:rPr>
              <a:t>Seguimiento</a:t>
            </a:r>
            <a:r>
              <a:rPr dirty="0">
                <a:solidFill>
                  <a:srgbClr val="1F4E79"/>
                </a:solidFill>
              </a:rPr>
              <a:t> TFM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sz="1800" dirty="0" err="1"/>
              <a:t>Adaptación</a:t>
            </a:r>
            <a:r>
              <a:rPr sz="1800" dirty="0"/>
              <a:t> del </a:t>
            </a:r>
            <a:r>
              <a:rPr sz="1800" dirty="0" err="1"/>
              <a:t>modelo</a:t>
            </a:r>
            <a:r>
              <a:rPr sz="1800" dirty="0"/>
              <a:t> Multitask-</a:t>
            </a:r>
            <a:r>
              <a:rPr sz="1800" dirty="0" err="1"/>
              <a:t>Stockformer</a:t>
            </a:r>
            <a:r>
              <a:rPr sz="1800" dirty="0"/>
              <a:t>
al mercado </a:t>
            </a:r>
            <a:r>
              <a:rPr sz="1800" dirty="0" err="1"/>
              <a:t>estadounidense</a:t>
            </a:r>
            <a:r>
              <a:rPr sz="1800" dirty="0"/>
              <a:t> (S&amp;P 500)</a:t>
            </a:r>
          </a:p>
          <a:p>
            <a:pPr marL="0" indent="0">
              <a:spcBef>
                <a:spcPts val="1800"/>
              </a:spcBef>
              <a:buNone/>
            </a:pPr>
            <a:r>
              <a:rPr sz="1400" b="1" dirty="0"/>
              <a:t>Gonzalo Alonso Lidón</a:t>
            </a:r>
          </a:p>
          <a:p>
            <a:pPr marL="0" indent="0">
              <a:buNone/>
            </a:pPr>
            <a:r>
              <a:rPr sz="1200" dirty="0"/>
              <a:t>Director: David Martin Corral Calvo</a:t>
            </a:r>
          </a:p>
          <a:p>
            <a:pPr marL="0" indent="0">
              <a:spcBef>
                <a:spcPts val="1000"/>
              </a:spcBef>
              <a:buNone/>
            </a:pPr>
            <a:r>
              <a:rPr sz="1200" i="1" dirty="0"/>
              <a:t>Marzo 2026</a:t>
            </a:r>
          </a:p>
        </p:txBody>
      </p:sp>
    </p:spTree>
    <p:extLst>
      <p:ext uri="{BB962C8B-B14F-4D97-AF65-F5344CB8AC3E}">
        <p14:creationId xmlns:p14="http://schemas.microsoft.com/office/powerpoint/2010/main" val="2504839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4E79"/>
                </a:solidFill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6B738-2315-E547-47E7-7DBFED8E4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100" name="Circle 1"/>
          <p:cNvSpPr/>
          <p:nvPr/>
        </p:nvSpPr>
        <p:spPr>
          <a:xfrm>
            <a:off x="927100" y="1270000"/>
            <a:ext cx="406400" cy="406400"/>
          </a:xfrm>
          <a:prstGeom prst="ellipse">
            <a:avLst/>
          </a:prstGeom>
          <a:solidFill>
            <a:srgbClr val="5B9BD5"/>
          </a:solidFill>
          <a:ln w="0"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s-ES" sz="1500" b="1" dirty="0">
                <a:solidFill>
                  <a:srgbClr val="FFFFFF"/>
                </a:solidFill>
                <a:latin typeface="Calibri Light"/>
              </a:rPr>
              <a:t>1</a:t>
            </a:r>
          </a:p>
        </p:txBody>
      </p:sp>
      <p:sp>
        <p:nvSpPr>
          <p:cNvPr id="110" name="Label 1"/>
          <p:cNvSpPr txBox="1"/>
          <p:nvPr/>
        </p:nvSpPr>
        <p:spPr>
          <a:xfrm>
            <a:off x="1485900" y="1270000"/>
            <a:ext cx="7239000" cy="4064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0" rIns="36000" bIns="0" anchor="ctr"/>
          <a:lstStyle/>
          <a:p>
            <a:pPr algn="l"/>
            <a:r>
              <a:rPr lang="es-ES" sz="1600" dirty="0">
                <a:solidFill>
                  <a:srgbClr val="333333"/>
                </a:solidFill>
                <a:latin typeface="Calibri Light"/>
              </a:rPr>
              <a:t>Contexto: el modelo Stockformer y sus fundamentos</a:t>
            </a:r>
          </a:p>
        </p:txBody>
      </p:sp>
      <p:sp>
        <p:nvSpPr>
          <p:cNvPr id="101" name="Circle 2"/>
          <p:cNvSpPr/>
          <p:nvPr/>
        </p:nvSpPr>
        <p:spPr>
          <a:xfrm>
            <a:off x="927100" y="1930400"/>
            <a:ext cx="406400" cy="406400"/>
          </a:xfrm>
          <a:prstGeom prst="ellipse">
            <a:avLst/>
          </a:prstGeom>
          <a:solidFill>
            <a:srgbClr val="ED7D31"/>
          </a:solidFill>
          <a:ln w="0"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s-ES" sz="1500" b="1" dirty="0">
                <a:solidFill>
                  <a:srgbClr val="FFFFFF"/>
                </a:solidFill>
                <a:latin typeface="Calibri Light"/>
              </a:rPr>
              <a:t>2</a:t>
            </a:r>
          </a:p>
        </p:txBody>
      </p:sp>
      <p:sp>
        <p:nvSpPr>
          <p:cNvPr id="111" name="Label 2"/>
          <p:cNvSpPr txBox="1"/>
          <p:nvPr/>
        </p:nvSpPr>
        <p:spPr>
          <a:xfrm>
            <a:off x="1485900" y="1930400"/>
            <a:ext cx="7239000" cy="4064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0" rIns="36000" bIns="0" anchor="ctr"/>
          <a:lstStyle/>
          <a:p>
            <a:pPr algn="l"/>
            <a:r>
              <a:rPr lang="es-ES" sz="1600" dirty="0">
                <a:solidFill>
                  <a:srgbClr val="333333"/>
                </a:solidFill>
                <a:latin typeface="Calibri Light"/>
              </a:rPr>
              <a:t>Arquitectura del modelo (paper original) y pipeline</a:t>
            </a:r>
          </a:p>
        </p:txBody>
      </p:sp>
      <p:sp>
        <p:nvSpPr>
          <p:cNvPr id="102" name="Circle 3"/>
          <p:cNvSpPr/>
          <p:nvPr/>
        </p:nvSpPr>
        <p:spPr>
          <a:xfrm>
            <a:off x="927100" y="2590800"/>
            <a:ext cx="406400" cy="406400"/>
          </a:xfrm>
          <a:prstGeom prst="ellipse">
            <a:avLst/>
          </a:prstGeom>
          <a:solidFill>
            <a:srgbClr val="A5A5A5"/>
          </a:solidFill>
          <a:ln w="0"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s-ES" sz="1500" b="1" dirty="0">
                <a:solidFill>
                  <a:srgbClr val="FFFFFF"/>
                </a:solidFill>
                <a:latin typeface="Calibri Light"/>
              </a:rPr>
              <a:t>3</a:t>
            </a:r>
          </a:p>
        </p:txBody>
      </p:sp>
      <p:sp>
        <p:nvSpPr>
          <p:cNvPr id="112" name="Label 3"/>
          <p:cNvSpPr txBox="1"/>
          <p:nvPr/>
        </p:nvSpPr>
        <p:spPr>
          <a:xfrm>
            <a:off x="1485900" y="2590800"/>
            <a:ext cx="7239000" cy="4064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0" rIns="36000" bIns="0" anchor="ctr"/>
          <a:lstStyle/>
          <a:p>
            <a:pPr algn="l"/>
            <a:r>
              <a:rPr lang="es-ES" sz="1600" dirty="0">
                <a:solidFill>
                  <a:srgbClr val="333333"/>
                </a:solidFill>
                <a:latin typeface="Calibri Light"/>
              </a:rPr>
              <a:t>Adaptación al S&amp;P 500: decisiones y desafíos</a:t>
            </a:r>
          </a:p>
        </p:txBody>
      </p:sp>
      <p:sp>
        <p:nvSpPr>
          <p:cNvPr id="103" name="Circle 4"/>
          <p:cNvSpPr/>
          <p:nvPr/>
        </p:nvSpPr>
        <p:spPr>
          <a:xfrm>
            <a:off x="927100" y="3251200"/>
            <a:ext cx="406400" cy="406400"/>
          </a:xfrm>
          <a:prstGeom prst="ellipse">
            <a:avLst/>
          </a:prstGeom>
          <a:solidFill>
            <a:srgbClr val="FFC000"/>
          </a:solidFill>
          <a:ln w="0"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s-ES" sz="1500" b="1" dirty="0">
                <a:solidFill>
                  <a:srgbClr val="FFFFFF"/>
                </a:solidFill>
                <a:latin typeface="Calibri Light"/>
              </a:rPr>
              <a:t>4</a:t>
            </a:r>
          </a:p>
        </p:txBody>
      </p:sp>
      <p:sp>
        <p:nvSpPr>
          <p:cNvPr id="113" name="Label 4"/>
          <p:cNvSpPr txBox="1"/>
          <p:nvPr/>
        </p:nvSpPr>
        <p:spPr>
          <a:xfrm>
            <a:off x="1485900" y="3251200"/>
            <a:ext cx="7239000" cy="4064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0" rIns="36000" bIns="0" anchor="ctr"/>
          <a:lstStyle/>
          <a:p>
            <a:pPr algn="l"/>
            <a:r>
              <a:rPr lang="es-ES" sz="1600" dirty="0">
                <a:solidFill>
                  <a:srgbClr val="333333"/>
                </a:solidFill>
                <a:latin typeface="Calibri Light"/>
              </a:rPr>
              <a:t>Resultados del backtesting y métricas</a:t>
            </a:r>
          </a:p>
        </p:txBody>
      </p:sp>
      <p:sp>
        <p:nvSpPr>
          <p:cNvPr id="104" name="Circle 5"/>
          <p:cNvSpPr/>
          <p:nvPr/>
        </p:nvSpPr>
        <p:spPr>
          <a:xfrm>
            <a:off x="927100" y="3911600"/>
            <a:ext cx="406400" cy="406400"/>
          </a:xfrm>
          <a:prstGeom prst="ellipse">
            <a:avLst/>
          </a:prstGeom>
          <a:solidFill>
            <a:srgbClr val="4472C4"/>
          </a:solidFill>
          <a:ln w="0"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s-ES" sz="1500" b="1" dirty="0">
                <a:solidFill>
                  <a:srgbClr val="FFFFFF"/>
                </a:solidFill>
                <a:latin typeface="Calibri Light"/>
              </a:rPr>
              <a:t>5</a:t>
            </a:r>
          </a:p>
        </p:txBody>
      </p:sp>
      <p:sp>
        <p:nvSpPr>
          <p:cNvPr id="114" name="Label 5"/>
          <p:cNvSpPr txBox="1"/>
          <p:nvPr/>
        </p:nvSpPr>
        <p:spPr>
          <a:xfrm>
            <a:off x="1485900" y="3911600"/>
            <a:ext cx="7239000" cy="4064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0" rIns="36000" bIns="0" anchor="ctr"/>
          <a:lstStyle/>
          <a:p>
            <a:pPr algn="l"/>
            <a:r>
              <a:rPr lang="es-ES" sz="1600" dirty="0">
                <a:solidFill>
                  <a:srgbClr val="333333"/>
                </a:solidFill>
                <a:latin typeface="Calibri Light"/>
              </a:rPr>
              <a:t>Comparativa con el modelo original (China A-shares)</a:t>
            </a:r>
          </a:p>
        </p:txBody>
      </p:sp>
      <p:sp>
        <p:nvSpPr>
          <p:cNvPr id="105" name="Circle 6"/>
          <p:cNvSpPr/>
          <p:nvPr/>
        </p:nvSpPr>
        <p:spPr>
          <a:xfrm>
            <a:off x="927100" y="4572000"/>
            <a:ext cx="406400" cy="406400"/>
          </a:xfrm>
          <a:prstGeom prst="ellipse">
            <a:avLst/>
          </a:prstGeom>
          <a:solidFill>
            <a:srgbClr val="70AD47"/>
          </a:solidFill>
          <a:ln w="0"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s-ES" sz="1500" b="1" dirty="0">
                <a:solidFill>
                  <a:srgbClr val="FFFFFF"/>
                </a:solidFill>
                <a:latin typeface="Calibri Light"/>
              </a:rPr>
              <a:t>6</a:t>
            </a:r>
          </a:p>
        </p:txBody>
      </p:sp>
      <p:sp>
        <p:nvSpPr>
          <p:cNvPr id="115" name="Label 6"/>
          <p:cNvSpPr txBox="1"/>
          <p:nvPr/>
        </p:nvSpPr>
        <p:spPr>
          <a:xfrm>
            <a:off x="1485900" y="4572000"/>
            <a:ext cx="7239000" cy="4064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0" rIns="36000" bIns="0" anchor="ctr"/>
          <a:lstStyle/>
          <a:p>
            <a:pPr algn="l"/>
            <a:r>
              <a:rPr lang="es-ES" sz="1600" dirty="0">
                <a:solidFill>
                  <a:srgbClr val="333333"/>
                </a:solidFill>
                <a:latin typeface="Calibri Light"/>
              </a:rPr>
              <a:t>Nueva estrategia: posiciones en corto (long-short)</a:t>
            </a:r>
          </a:p>
        </p:txBody>
      </p:sp>
      <p:sp>
        <p:nvSpPr>
          <p:cNvPr id="106" name="Circle 7"/>
          <p:cNvSpPr/>
          <p:nvPr/>
        </p:nvSpPr>
        <p:spPr>
          <a:xfrm>
            <a:off x="927100" y="5232400"/>
            <a:ext cx="406400" cy="406400"/>
          </a:xfrm>
          <a:prstGeom prst="ellipse">
            <a:avLst/>
          </a:prstGeom>
          <a:solidFill>
            <a:srgbClr val="5B9BD5"/>
          </a:solidFill>
          <a:ln w="0"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s-ES" sz="1500" b="1" dirty="0">
                <a:solidFill>
                  <a:srgbClr val="FFFFFF"/>
                </a:solidFill>
                <a:latin typeface="Calibri Light"/>
              </a:rPr>
              <a:t>7</a:t>
            </a:r>
          </a:p>
        </p:txBody>
      </p:sp>
      <p:sp>
        <p:nvSpPr>
          <p:cNvPr id="116" name="Label 7"/>
          <p:cNvSpPr txBox="1"/>
          <p:nvPr/>
        </p:nvSpPr>
        <p:spPr>
          <a:xfrm>
            <a:off x="1485900" y="5232400"/>
            <a:ext cx="7239000" cy="4064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0" rIns="36000" bIns="0" anchor="ctr"/>
          <a:lstStyle/>
          <a:p>
            <a:pPr algn="l"/>
            <a:r>
              <a:rPr lang="es-ES" sz="1600" dirty="0">
                <a:solidFill>
                  <a:srgbClr val="333333"/>
                </a:solidFill>
                <a:latin typeface="Calibri Light"/>
              </a:rPr>
              <a:t>Cronograma actualizado y próximos pasos</a:t>
            </a:r>
          </a:p>
        </p:txBody>
      </p:sp>
    </p:spTree>
    <p:extLst>
      <p:ext uri="{BB962C8B-B14F-4D97-AF65-F5344CB8AC3E}">
        <p14:creationId xmlns:p14="http://schemas.microsoft.com/office/powerpoint/2010/main" val="3107383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Contexto del Proyecto</a:t>
            </a:r>
          </a:p>
        </p:txBody>
      </p:sp>
      <p:pic>
        <p:nvPicPr>
          <p:cNvPr id="4" name="Graphic 4" descr="Context section ic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0" y="2032000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728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4E79"/>
                </a:solidFill>
              </a:rPr>
              <a:t>Motivación y Objetivos</a:t>
            </a:r>
          </a:p>
        </p:txBody>
      </p:sp>
      <p:pic>
        <p:nvPicPr>
          <p:cNvPr id="4" name="Graphic 4" descr="Research paper icon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100" y="1387624"/>
            <a:ext cx="457200" cy="457200"/>
          </a:xfrm>
          <a:prstGeom prst="rect">
            <a:avLst/>
          </a:prstGeom>
        </p:spPr>
      </p:pic>
      <p:pic>
        <p:nvPicPr>
          <p:cNvPr id="5" name="Graphic 5" descr="Results chart icon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6100" y="2260600"/>
            <a:ext cx="457200" cy="457200"/>
          </a:xfrm>
          <a:prstGeom prst="rect">
            <a:avLst/>
          </a:prstGeom>
        </p:spPr>
      </p:pic>
      <p:pic>
        <p:nvPicPr>
          <p:cNvPr id="6" name="Graphic 6" descr="Research question target icon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6100" y="3251200"/>
            <a:ext cx="457200" cy="457200"/>
          </a:xfrm>
          <a:prstGeom prst="rect">
            <a:avLst/>
          </a:prstGeom>
        </p:spPr>
      </p:pic>
      <p:pic>
        <p:nvPicPr>
          <p:cNvPr id="7" name="Graphic 7" descr="Applied objective icon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6100" y="4241800"/>
            <a:ext cx="457200" cy="457200"/>
          </a:xfrm>
          <a:prstGeom prst="rect">
            <a:avLst/>
          </a:prstGeom>
        </p:spPr>
      </p:pic>
      <p:pic>
        <p:nvPicPr>
          <p:cNvPr id="8" name="Graphic 8" descr="Innovation contribution icon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6100" y="5232400"/>
            <a:ext cx="457200" cy="4572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2C50687-CC0A-1D44-9DD5-66C4BD32C35F}"/>
              </a:ext>
            </a:extLst>
          </p:cNvPr>
          <p:cNvSpPr/>
          <p:nvPr/>
        </p:nvSpPr>
        <p:spPr>
          <a:xfrm>
            <a:off x="927100" y="1117600"/>
            <a:ext cx="7289800" cy="25400"/>
          </a:xfrm>
          <a:prstGeom prst="rect">
            <a:avLst/>
          </a:prstGeom>
          <a:solidFill>
            <a:srgbClr val="5B9BD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E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888B04-20DC-AB4A-AB99-0FAB78DE1AF1}"/>
              </a:ext>
            </a:extLst>
          </p:cNvPr>
          <p:cNvSpPr txBox="1"/>
          <p:nvPr/>
        </p:nvSpPr>
        <p:spPr>
          <a:xfrm>
            <a:off x="1130300" y="1270000"/>
            <a:ext cx="7493000" cy="762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1400" b="1" dirty="0">
                <a:solidFill>
                  <a:srgbClr val="333333"/>
                </a:solidFill>
                <a:latin typeface="Calibri Light"/>
                <a:cs typeface="Calibri Light"/>
              </a:rPr>
              <a:t>Modelo base: </a:t>
            </a:r>
            <a:r>
              <a:rPr lang="en-GB" sz="1400" dirty="0">
                <a:solidFill>
                  <a:srgbClr val="333333"/>
                </a:solidFill>
                <a:latin typeface="Calibri Light"/>
                <a:cs typeface="Calibri Light"/>
              </a:rPr>
              <a:t>Multitask-</a:t>
            </a:r>
            <a:r>
              <a:rPr lang="en-GB" sz="1400" dirty="0" err="1">
                <a:solidFill>
                  <a:srgbClr val="333333"/>
                </a:solidFill>
                <a:latin typeface="Calibri Light"/>
                <a:cs typeface="Calibri Light"/>
              </a:rPr>
              <a:t>Stockformer</a:t>
            </a:r>
            <a:r>
              <a:rPr lang="en-GB" sz="1400" dirty="0">
                <a:solidFill>
                  <a:srgbClr val="333333"/>
                </a:solidFill>
                <a:latin typeface="Calibri Light"/>
                <a:cs typeface="Calibri Light"/>
              </a:rPr>
              <a:t> (Ma et al., 2025), </a:t>
            </a:r>
            <a:r>
              <a:rPr lang="en-GB" sz="1400" dirty="0" err="1">
                <a:solidFill>
                  <a:srgbClr val="333333"/>
                </a:solidFill>
                <a:latin typeface="Calibri Light"/>
                <a:cs typeface="Calibri Light"/>
              </a:rPr>
              <a:t>publicado</a:t>
            </a:r>
            <a:r>
              <a:rPr lang="en-GB" sz="1400" dirty="0">
                <a:solidFill>
                  <a:srgbClr val="333333"/>
                </a:solidFill>
                <a:latin typeface="Calibri Light"/>
                <a:cs typeface="Calibri Light"/>
              </a:rPr>
              <a:t> </a:t>
            </a:r>
            <a:r>
              <a:rPr lang="en-GB" sz="1400" dirty="0" err="1">
                <a:solidFill>
                  <a:srgbClr val="333333"/>
                </a:solidFill>
                <a:latin typeface="Calibri Light"/>
                <a:cs typeface="Calibri Light"/>
              </a:rPr>
              <a:t>en</a:t>
            </a:r>
            <a:r>
              <a:rPr lang="en-GB" sz="1400" dirty="0">
                <a:solidFill>
                  <a:srgbClr val="333333"/>
                </a:solidFill>
                <a:latin typeface="Calibri Light"/>
                <a:cs typeface="Calibri Light"/>
              </a:rPr>
              <a:t> Expert Systems with Applications.</a:t>
            </a:r>
            <a:endParaRPr lang="en-ES" sz="1400" dirty="0">
              <a:solidFill>
                <a:srgbClr val="333333"/>
              </a:solidFill>
              <a:latin typeface="Calibri Light"/>
              <a:cs typeface="Calibri Ligh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774742-E69C-784A-BDF0-9F64794936C8}"/>
              </a:ext>
            </a:extLst>
          </p:cNvPr>
          <p:cNvSpPr txBox="1"/>
          <p:nvPr/>
        </p:nvSpPr>
        <p:spPr>
          <a:xfrm>
            <a:off x="1130300" y="2260600"/>
            <a:ext cx="7493000" cy="762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1400" b="1">
                <a:solidFill>
                  <a:srgbClr val="333333"/>
                </a:solidFill>
                <a:latin typeface="Calibri Light"/>
                <a:cs typeface="Calibri Light"/>
              </a:rPr>
              <a:t>Resultados originales: </a:t>
            </a:r>
            <a:r>
              <a:rPr lang="en-GB" sz="1400">
                <a:solidFill>
                  <a:srgbClr val="333333"/>
                </a:solidFill>
                <a:latin typeface="Calibri Light"/>
                <a:cs typeface="Calibri Light"/>
              </a:rPr>
              <a:t>Probado en mercados chinos (CSI 300/500) con IC 0.07–0.08, Sharpe 1.5–2.1.</a:t>
            </a:r>
            <a:endParaRPr lang="en-ES" sz="1400">
              <a:solidFill>
                <a:srgbClr val="333333"/>
              </a:solidFill>
              <a:latin typeface="Calibri Light"/>
              <a:cs typeface="Calibri Ligh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2B9305-A7C2-6140-89BB-147ECC75D8FC}"/>
              </a:ext>
            </a:extLst>
          </p:cNvPr>
          <p:cNvSpPr txBox="1"/>
          <p:nvPr/>
        </p:nvSpPr>
        <p:spPr>
          <a:xfrm>
            <a:off x="1130300" y="3251200"/>
            <a:ext cx="7493000" cy="762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1400" b="1">
                <a:solidFill>
                  <a:srgbClr val="333333"/>
                </a:solidFill>
                <a:latin typeface="Calibri Light"/>
                <a:cs typeface="Calibri Light"/>
              </a:rPr>
              <a:t>Pregunta de investigación: </a:t>
            </a:r>
            <a:r>
              <a:rPr lang="en-GB" sz="1400">
                <a:solidFill>
                  <a:srgbClr val="333333"/>
                </a:solidFill>
                <a:latin typeface="Calibri Light"/>
                <a:cs typeface="Calibri Light"/>
              </a:rPr>
              <a:t>¿Se puede generalizar este modelo al mercado estadounidense (S&amp;P 500)?</a:t>
            </a:r>
            <a:endParaRPr lang="en-ES" sz="1400">
              <a:solidFill>
                <a:srgbClr val="333333"/>
              </a:solidFill>
              <a:latin typeface="Calibri Light"/>
              <a:cs typeface="Calibri Ligh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2F91C7-F838-F247-945D-218F5D5B3281}"/>
              </a:ext>
            </a:extLst>
          </p:cNvPr>
          <p:cNvSpPr txBox="1"/>
          <p:nvPr/>
        </p:nvSpPr>
        <p:spPr>
          <a:xfrm>
            <a:off x="1130300" y="4241800"/>
            <a:ext cx="7493000" cy="762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1400" b="1">
                <a:solidFill>
                  <a:srgbClr val="333333"/>
                </a:solidFill>
                <a:latin typeface="Calibri Light"/>
                <a:cs typeface="Calibri Light"/>
              </a:rPr>
              <a:t>Objetivo aplicado: </a:t>
            </a:r>
            <a:r>
              <a:rPr lang="en-GB" sz="1400">
                <a:solidFill>
                  <a:srgbClr val="333333"/>
                </a:solidFill>
                <a:latin typeface="Calibri Light"/>
                <a:cs typeface="Calibri Light"/>
              </a:rPr>
              <a:t>Desarrollar una interfaz interactiva (Streamlit) para selección y backtesting de carteras.</a:t>
            </a:r>
            <a:endParaRPr lang="en-ES" sz="1400">
              <a:solidFill>
                <a:srgbClr val="333333"/>
              </a:solidFill>
              <a:latin typeface="Calibri Light"/>
              <a:cs typeface="Calibri Ligh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8973DC-CA3A-C94F-A639-8EBC224F416E}"/>
              </a:ext>
            </a:extLst>
          </p:cNvPr>
          <p:cNvSpPr txBox="1"/>
          <p:nvPr/>
        </p:nvSpPr>
        <p:spPr>
          <a:xfrm>
            <a:off x="1130300" y="5232400"/>
            <a:ext cx="7493000" cy="762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1400" b="1">
                <a:solidFill>
                  <a:srgbClr val="333333"/>
                </a:solidFill>
                <a:latin typeface="Calibri Light"/>
                <a:cs typeface="Calibri Light"/>
              </a:rPr>
              <a:t>Aportación: </a:t>
            </a:r>
            <a:r>
              <a:rPr lang="en-GB" sz="1400">
                <a:solidFill>
                  <a:srgbClr val="333333"/>
                </a:solidFill>
                <a:latin typeface="Calibri Light"/>
                <a:cs typeface="Calibri Light"/>
              </a:rPr>
              <a:t>Combina faceta investigadora (validar generalización) con faceta práctica (herramienta para usuarios).</a:t>
            </a:r>
            <a:endParaRPr lang="en-ES" sz="1400">
              <a:solidFill>
                <a:srgbClr val="333333"/>
              </a:solidFill>
              <a:latin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902918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4E79"/>
                </a:solidFill>
              </a:rPr>
              <a:t>¿Qué es Stockformer?</a:t>
            </a:r>
          </a:p>
        </p:txBody>
      </p:sp>
      <p:pic>
        <p:nvPicPr>
          <p:cNvPr id="5" name="Graphic 5" descr="Wavelet decomposition filter icon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100" y="2260600"/>
            <a:ext cx="431800" cy="431800"/>
          </a:xfrm>
          <a:prstGeom prst="rect">
            <a:avLst/>
          </a:prstGeom>
        </p:spPr>
      </p:pic>
      <p:pic>
        <p:nvPicPr>
          <p:cNvPr id="6" name="Graphic 6" descr="Spatiotemporal encoder network icon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6100" y="3251200"/>
            <a:ext cx="431800" cy="431800"/>
          </a:xfrm>
          <a:prstGeom prst="rect">
            <a:avLst/>
          </a:prstGeom>
        </p:spPr>
      </p:pic>
      <p:pic>
        <p:nvPicPr>
          <p:cNvPr id="7" name="Graphic 7" descr="Multitask learning target icon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6100" y="4241800"/>
            <a:ext cx="431800" cy="431800"/>
          </a:xfrm>
          <a:prstGeom prst="rect">
            <a:avLst/>
          </a:prstGeom>
        </p:spPr>
      </p:pic>
      <p:pic>
        <p:nvPicPr>
          <p:cNvPr id="8" name="Graphic 8" descr="Graph embeddings icon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6100" y="5232400"/>
            <a:ext cx="431800" cy="4318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EE0AD16-49B0-F047-A790-DE6ABBC3E910}"/>
              </a:ext>
            </a:extLst>
          </p:cNvPr>
          <p:cNvSpPr/>
          <p:nvPr/>
        </p:nvSpPr>
        <p:spPr>
          <a:xfrm>
            <a:off x="927100" y="1117600"/>
            <a:ext cx="7289800" cy="25400"/>
          </a:xfrm>
          <a:prstGeom prst="rect">
            <a:avLst/>
          </a:prstGeom>
          <a:solidFill>
            <a:srgbClr val="5B9BD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E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887D4D-E632-254C-A1AC-FB131737F470}"/>
              </a:ext>
            </a:extLst>
          </p:cNvPr>
          <p:cNvSpPr txBox="1"/>
          <p:nvPr/>
        </p:nvSpPr>
        <p:spPr>
          <a:xfrm>
            <a:off x="895424" y="1270000"/>
            <a:ext cx="7493000" cy="762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1400" b="1" dirty="0">
                <a:solidFill>
                  <a:srgbClr val="333333"/>
                </a:solidFill>
                <a:latin typeface="Calibri Light"/>
                <a:cs typeface="Calibri Light"/>
              </a:rPr>
              <a:t>Modelo de </a:t>
            </a:r>
            <a:r>
              <a:rPr lang="en-GB" sz="1400" b="1" dirty="0" err="1">
                <a:solidFill>
                  <a:srgbClr val="333333"/>
                </a:solidFill>
                <a:latin typeface="Calibri Light"/>
                <a:cs typeface="Calibri Light"/>
              </a:rPr>
              <a:t>selección</a:t>
            </a:r>
            <a:r>
              <a:rPr lang="en-GB" sz="1400" b="1" dirty="0">
                <a:solidFill>
                  <a:srgbClr val="333333"/>
                </a:solidFill>
                <a:latin typeface="Calibri Light"/>
                <a:cs typeface="Calibri Light"/>
              </a:rPr>
              <a:t> de </a:t>
            </a:r>
            <a:r>
              <a:rPr lang="en-GB" sz="1400" b="1" dirty="0" err="1">
                <a:solidFill>
                  <a:srgbClr val="333333"/>
                </a:solidFill>
                <a:latin typeface="Calibri Light"/>
                <a:cs typeface="Calibri Light"/>
              </a:rPr>
              <a:t>acciones</a:t>
            </a:r>
            <a:r>
              <a:rPr lang="en-GB" sz="1400" b="1" dirty="0">
                <a:solidFill>
                  <a:srgbClr val="333333"/>
                </a:solidFill>
                <a:latin typeface="Calibri Light"/>
                <a:cs typeface="Calibri Light"/>
              </a:rPr>
              <a:t> </a:t>
            </a:r>
            <a:r>
              <a:rPr lang="en-GB" sz="1400" dirty="0" err="1">
                <a:solidFill>
                  <a:srgbClr val="333333"/>
                </a:solidFill>
                <a:latin typeface="Calibri Light"/>
                <a:cs typeface="Calibri Light"/>
              </a:rPr>
              <a:t>basado</a:t>
            </a:r>
            <a:r>
              <a:rPr lang="en-GB" sz="1400" dirty="0">
                <a:solidFill>
                  <a:srgbClr val="333333"/>
                </a:solidFill>
                <a:latin typeface="Calibri Light"/>
                <a:cs typeface="Calibri Light"/>
              </a:rPr>
              <a:t> </a:t>
            </a:r>
            <a:r>
              <a:rPr lang="en-GB" sz="1400" dirty="0" err="1">
                <a:solidFill>
                  <a:srgbClr val="333333"/>
                </a:solidFill>
                <a:latin typeface="Calibri Light"/>
                <a:cs typeface="Calibri Light"/>
              </a:rPr>
              <a:t>en</a:t>
            </a:r>
            <a:r>
              <a:rPr lang="en-GB" sz="1400" dirty="0">
                <a:solidFill>
                  <a:srgbClr val="333333"/>
                </a:solidFill>
                <a:latin typeface="Calibri Light"/>
                <a:cs typeface="Calibri Light"/>
              </a:rPr>
              <a:t> deep learning con 4 </a:t>
            </a:r>
            <a:r>
              <a:rPr lang="en-GB" sz="1400" dirty="0" err="1">
                <a:solidFill>
                  <a:srgbClr val="333333"/>
                </a:solidFill>
                <a:latin typeface="Calibri Light"/>
                <a:cs typeface="Calibri Light"/>
              </a:rPr>
              <a:t>componentes</a:t>
            </a:r>
            <a:r>
              <a:rPr lang="en-GB" sz="1400" dirty="0">
                <a:solidFill>
                  <a:srgbClr val="333333"/>
                </a:solidFill>
                <a:latin typeface="Calibri Light"/>
                <a:cs typeface="Calibri Light"/>
              </a:rPr>
              <a:t> clave.</a:t>
            </a:r>
            <a:endParaRPr lang="en-ES" sz="1400" dirty="0">
              <a:solidFill>
                <a:srgbClr val="333333"/>
              </a:solidFill>
              <a:latin typeface="Calibri Light"/>
              <a:cs typeface="Calibri Ligh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F08089-AC0B-E547-9254-421C96AA501B}"/>
              </a:ext>
            </a:extLst>
          </p:cNvPr>
          <p:cNvSpPr txBox="1"/>
          <p:nvPr/>
        </p:nvSpPr>
        <p:spPr>
          <a:xfrm>
            <a:off x="1104900" y="2260600"/>
            <a:ext cx="7493000" cy="762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1400" b="1">
                <a:solidFill>
                  <a:srgbClr val="333333"/>
                </a:solidFill>
                <a:latin typeface="Calibri Light"/>
                <a:cs typeface="Calibri Light"/>
              </a:rPr>
              <a:t>1. Transformada Wavelet Discreta (DWT): </a:t>
            </a:r>
            <a:r>
              <a:rPr lang="en-GB" sz="1400">
                <a:solidFill>
                  <a:srgbClr val="333333"/>
                </a:solidFill>
                <a:latin typeface="Calibri Light"/>
                <a:cs typeface="Calibri Light"/>
              </a:rPr>
              <a:t>descompone retornos en tendencia y volatilidad con wavelet Sym2.</a:t>
            </a:r>
            <a:endParaRPr lang="en-ES" sz="1400">
              <a:solidFill>
                <a:srgbClr val="333333"/>
              </a:solidFill>
              <a:latin typeface="Calibri Light"/>
              <a:cs typeface="Calibri Ligh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DCF68E-1AE2-864F-BC6E-F990E7B6F34C}"/>
              </a:ext>
            </a:extLst>
          </p:cNvPr>
          <p:cNvSpPr txBox="1"/>
          <p:nvPr/>
        </p:nvSpPr>
        <p:spPr>
          <a:xfrm>
            <a:off x="1104900" y="3251200"/>
            <a:ext cx="7493000" cy="762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1400" b="1">
                <a:solidFill>
                  <a:srgbClr val="333333"/>
                </a:solidFill>
                <a:latin typeface="Calibri Light"/>
                <a:cs typeface="Calibri Light"/>
              </a:rPr>
              <a:t>2. Codificador Espaciotemporal Dual: </a:t>
            </a:r>
            <a:r>
              <a:rPr lang="en-GB" sz="1400">
                <a:solidFill>
                  <a:srgbClr val="333333"/>
                </a:solidFill>
                <a:latin typeface="Calibri Light"/>
                <a:cs typeface="Calibri Light"/>
              </a:rPr>
              <a:t>atención temporal para tendencias + TCN dilatado para volatilidad + grafos.</a:t>
            </a:r>
            <a:endParaRPr lang="en-ES" sz="1400">
              <a:solidFill>
                <a:srgbClr val="333333"/>
              </a:solidFill>
              <a:latin typeface="Calibri Light"/>
              <a:cs typeface="Calibri Ligh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1726CD-D712-694C-B4F6-4433D2761544}"/>
              </a:ext>
            </a:extLst>
          </p:cNvPr>
          <p:cNvSpPr txBox="1"/>
          <p:nvPr/>
        </p:nvSpPr>
        <p:spPr>
          <a:xfrm>
            <a:off x="1104900" y="4241800"/>
            <a:ext cx="7493000" cy="762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1400" b="1">
                <a:solidFill>
                  <a:srgbClr val="333333"/>
                </a:solidFill>
                <a:latin typeface="Calibri Light"/>
                <a:cs typeface="Calibri Light"/>
              </a:rPr>
              <a:t>3. Aprendizaje Multitarea: </a:t>
            </a:r>
            <a:r>
              <a:rPr lang="en-GB" sz="1400">
                <a:solidFill>
                  <a:srgbClr val="333333"/>
                </a:solidFill>
                <a:latin typeface="Calibri Light"/>
                <a:cs typeface="Calibri Light"/>
              </a:rPr>
              <a:t>predice simultáneamente retorno futuro (regresión) y dirección (clasificación).</a:t>
            </a:r>
            <a:endParaRPr lang="en-ES" sz="1400">
              <a:solidFill>
                <a:srgbClr val="333333"/>
              </a:solidFill>
              <a:latin typeface="Calibri Light"/>
              <a:cs typeface="Calibri Ligh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8C26D8-735B-2648-9EFC-59975D524471}"/>
              </a:ext>
            </a:extLst>
          </p:cNvPr>
          <p:cNvSpPr txBox="1"/>
          <p:nvPr/>
        </p:nvSpPr>
        <p:spPr>
          <a:xfrm>
            <a:off x="1104900" y="5232400"/>
            <a:ext cx="7493000" cy="762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1400" b="1">
                <a:solidFill>
                  <a:srgbClr val="333333"/>
                </a:solidFill>
                <a:latin typeface="Calibri Light"/>
                <a:cs typeface="Calibri Light"/>
              </a:rPr>
              <a:t>4. Embeddings de grafos (Struc2Vec): </a:t>
            </a:r>
            <a:r>
              <a:rPr lang="en-GB" sz="1400">
                <a:solidFill>
                  <a:srgbClr val="333333"/>
                </a:solidFill>
                <a:latin typeface="Calibri Light"/>
                <a:cs typeface="Calibri Light"/>
              </a:rPr>
              <a:t>captura relaciones estructurales entre acciones mediante correlaciones.</a:t>
            </a:r>
            <a:endParaRPr lang="en-ES" sz="1400">
              <a:solidFill>
                <a:srgbClr val="333333"/>
              </a:solidFill>
              <a:latin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261634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Arquitectura y Pipeline</a:t>
            </a:r>
          </a:p>
        </p:txBody>
      </p:sp>
      <p:pic>
        <p:nvPicPr>
          <p:cNvPr id="4" name="Graphic 4" descr="Architecture section ic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0" y="2032000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124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4E79"/>
                </a:solidFill>
              </a:rPr>
              <a:t>Arquitectura del Modelo (Ma et al., 2025)</a:t>
            </a:r>
          </a:p>
        </p:txBody>
      </p:sp>
      <p:pic>
        <p:nvPicPr>
          <p:cNvPr id="3" name="Picture 2" descr="paper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796187"/>
            <a:ext cx="8128000" cy="387522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0EAAA7D-B4EE-8149-8EA3-EE133D202F6C}"/>
              </a:ext>
            </a:extLst>
          </p:cNvPr>
          <p:cNvSpPr/>
          <p:nvPr/>
        </p:nvSpPr>
        <p:spPr>
          <a:xfrm>
            <a:off x="927100" y="1117600"/>
            <a:ext cx="7289800" cy="25400"/>
          </a:xfrm>
          <a:prstGeom prst="rect">
            <a:avLst/>
          </a:prstGeom>
          <a:solidFill>
            <a:srgbClr val="5B9BD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386899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4E79"/>
                </a:solidFill>
              </a:rPr>
              <a:t>Decoupling Flow Layer: DWT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6100" y="1847850"/>
            <a:ext cx="3840480" cy="381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400" b="1">
                <a:solidFill>
                  <a:srgbClr val="333333"/>
                </a:solidFill>
                <a:latin typeface="Calibri Light"/>
                <a:cs typeface="Calibri Light"/>
              </a:rPr>
              <a:t>Transformada Wavelet Discreta (DWT)</a:t>
            </a:r>
            <a:r>
              <a:rPr sz="1400">
                <a:solidFill>
                  <a:srgbClr val="333333"/>
                </a:solidFill>
                <a:latin typeface="Calibri Light"/>
                <a:cs typeface="Calibri Light"/>
              </a:rPr>
              <a:t> con wavelet Sym2, nivel 1.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400" b="1">
                <a:solidFill>
                  <a:srgbClr val="333333"/>
                </a:solidFill>
                <a:latin typeface="Calibri Light"/>
                <a:cs typeface="Calibri Light"/>
              </a:rPr>
              <a:t>Descomposición: </a:t>
            </a:r>
            <a:r>
              <a:rPr sz="1400">
                <a:solidFill>
                  <a:srgbClr val="333333"/>
                </a:solidFill>
                <a:latin typeface="Calibri Light"/>
                <a:cs typeface="Calibri Light"/>
              </a:rPr>
              <a:t>La señal de retornos se separa en componente de baja frecuencia (tendencia) y alta frecuencia (volatilidad).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400" b="1">
                <a:solidFill>
                  <a:srgbClr val="333333"/>
                </a:solidFill>
                <a:latin typeface="Calibri Light"/>
                <a:cs typeface="Calibri Light"/>
              </a:rPr>
              <a:t>Baja frecuencia: </a:t>
            </a:r>
            <a:r>
              <a:rPr sz="1400">
                <a:solidFill>
                  <a:srgbClr val="333333"/>
                </a:solidFill>
                <a:latin typeface="Calibri Light"/>
                <a:cs typeface="Calibri Light"/>
              </a:rPr>
              <a:t>captura movimientos de mercado a largo plazo, estables e indicativos de la dirección general.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400" b="1">
                <a:solidFill>
                  <a:srgbClr val="333333"/>
                </a:solidFill>
                <a:latin typeface="Calibri Light"/>
                <a:cs typeface="Calibri Light"/>
              </a:rPr>
              <a:t>Alta frecuencia: </a:t>
            </a:r>
            <a:r>
              <a:rPr sz="1400">
                <a:solidFill>
                  <a:srgbClr val="333333"/>
                </a:solidFill>
                <a:latin typeface="Calibri Light"/>
                <a:cs typeface="Calibri Light"/>
              </a:rPr>
              <a:t>refleja fluctuaciones abruptas, ruido de mercado y eventos inesperados.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400" b="1">
                <a:solidFill>
                  <a:srgbClr val="333333"/>
                </a:solidFill>
                <a:latin typeface="Calibri Light"/>
                <a:cs typeface="Calibri Light"/>
              </a:rPr>
              <a:t>Ventaja: </a:t>
            </a:r>
            <a:r>
              <a:rPr sz="1400">
                <a:solidFill>
                  <a:srgbClr val="333333"/>
                </a:solidFill>
                <a:latin typeface="Calibri Light"/>
                <a:cs typeface="Calibri Light"/>
              </a:rPr>
              <a:t>Permite que cada codificador se especialice en un tipo de patrón temporal diferente.</a:t>
            </a:r>
          </a:p>
        </p:txBody>
      </p:sp>
      <p:pic>
        <p:nvPicPr>
          <p:cNvPr id="4" name="Picture 3" descr="dwt_decompos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6920" y="2610028"/>
            <a:ext cx="4069080" cy="228564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0631E1B-4E4A-C343-8E49-E059DE324804}"/>
              </a:ext>
            </a:extLst>
          </p:cNvPr>
          <p:cNvSpPr/>
          <p:nvPr/>
        </p:nvSpPr>
        <p:spPr>
          <a:xfrm>
            <a:off x="927100" y="1117600"/>
            <a:ext cx="7289800" cy="25400"/>
          </a:xfrm>
          <a:prstGeom prst="rect">
            <a:avLst/>
          </a:prstGeom>
          <a:solidFill>
            <a:srgbClr val="5B9BD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731060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4E79"/>
                </a:solidFill>
              </a:rPr>
              <a:t>Codificador Espaciotemporal Dual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>
              <a:spcBef>
                <a:spcPts val="400"/>
              </a:spcBef>
              <a:spcAft>
                <a:spcPts val="300"/>
              </a:spcAft>
              <a:buNone/>
            </a:pPr>
            <a:r>
              <a:rPr sz="1400" b="1" dirty="0">
                <a:solidFill>
                  <a:srgbClr val="333333"/>
                </a:solidFill>
              </a:rPr>
              <a:t>Temporal Attention (tatt): </a:t>
            </a:r>
            <a:r>
              <a:rPr sz="1400" dirty="0" err="1">
                <a:solidFill>
                  <a:srgbClr val="333333"/>
                </a:solidFill>
              </a:rPr>
              <a:t>Procesa</a:t>
            </a:r>
            <a:r>
              <a:rPr sz="1400" dirty="0">
                <a:solidFill>
                  <a:srgbClr val="333333"/>
                </a:solidFill>
              </a:rPr>
              <a:t> </a:t>
            </a:r>
            <a:r>
              <a:rPr sz="1400" dirty="0" err="1">
                <a:solidFill>
                  <a:srgbClr val="333333"/>
                </a:solidFill>
              </a:rPr>
              <a:t>componentes</a:t>
            </a:r>
            <a:r>
              <a:rPr sz="1400" dirty="0">
                <a:solidFill>
                  <a:srgbClr val="333333"/>
                </a:solidFill>
              </a:rPr>
              <a:t> de baja </a:t>
            </a:r>
            <a:r>
              <a:rPr sz="1400" dirty="0" err="1">
                <a:solidFill>
                  <a:srgbClr val="333333"/>
                </a:solidFill>
              </a:rPr>
              <a:t>frecuencia</a:t>
            </a:r>
            <a:r>
              <a:rPr sz="1400" dirty="0">
                <a:solidFill>
                  <a:srgbClr val="333333"/>
                </a:solidFill>
              </a:rPr>
              <a:t>. Self-attention con positional encoding para </a:t>
            </a:r>
            <a:r>
              <a:rPr sz="1400" dirty="0" err="1">
                <a:solidFill>
                  <a:srgbClr val="333333"/>
                </a:solidFill>
              </a:rPr>
              <a:t>capturar</a:t>
            </a:r>
            <a:r>
              <a:rPr sz="1400" dirty="0">
                <a:solidFill>
                  <a:srgbClr val="333333"/>
                </a:solidFill>
              </a:rPr>
              <a:t> </a:t>
            </a:r>
            <a:r>
              <a:rPr sz="1400" dirty="0" err="1">
                <a:solidFill>
                  <a:srgbClr val="333333"/>
                </a:solidFill>
              </a:rPr>
              <a:t>dependencias</a:t>
            </a:r>
            <a:r>
              <a:rPr sz="1400" dirty="0">
                <a:solidFill>
                  <a:srgbClr val="333333"/>
                </a:solidFill>
              </a:rPr>
              <a:t> a largo </a:t>
            </a:r>
            <a:r>
              <a:rPr sz="1400" dirty="0" err="1">
                <a:solidFill>
                  <a:srgbClr val="333333"/>
                </a:solidFill>
              </a:rPr>
              <a:t>plazo</a:t>
            </a:r>
            <a:r>
              <a:rPr sz="1400" dirty="0">
                <a:solidFill>
                  <a:srgbClr val="333333"/>
                </a:solidFill>
              </a:rPr>
              <a:t>.</a:t>
            </a:r>
          </a:p>
          <a:p>
            <a:pPr>
              <a:spcBef>
                <a:spcPts val="400"/>
              </a:spcBef>
              <a:spcAft>
                <a:spcPts val="300"/>
              </a:spcAft>
              <a:buNone/>
            </a:pPr>
            <a:r>
              <a:rPr sz="1400" b="1" dirty="0">
                <a:solidFill>
                  <a:srgbClr val="333333"/>
                </a:solidFill>
              </a:rPr>
              <a:t>Dilated Causal Convolution (conv): </a:t>
            </a:r>
            <a:r>
              <a:rPr sz="1400" dirty="0" err="1">
                <a:solidFill>
                  <a:srgbClr val="333333"/>
                </a:solidFill>
              </a:rPr>
              <a:t>Procesa</a:t>
            </a:r>
            <a:r>
              <a:rPr sz="1400" dirty="0">
                <a:solidFill>
                  <a:srgbClr val="333333"/>
                </a:solidFill>
              </a:rPr>
              <a:t> </a:t>
            </a:r>
            <a:r>
              <a:rPr sz="1400" dirty="0" err="1">
                <a:solidFill>
                  <a:srgbClr val="333333"/>
                </a:solidFill>
              </a:rPr>
              <a:t>componentes</a:t>
            </a:r>
            <a:r>
              <a:rPr sz="1400" dirty="0">
                <a:solidFill>
                  <a:srgbClr val="333333"/>
                </a:solidFill>
              </a:rPr>
              <a:t> de </a:t>
            </a:r>
            <a:r>
              <a:rPr sz="1400" dirty="0" err="1">
                <a:solidFill>
                  <a:srgbClr val="333333"/>
                </a:solidFill>
              </a:rPr>
              <a:t>alta</a:t>
            </a:r>
            <a:r>
              <a:rPr sz="1400" dirty="0">
                <a:solidFill>
                  <a:srgbClr val="333333"/>
                </a:solidFill>
              </a:rPr>
              <a:t> </a:t>
            </a:r>
            <a:r>
              <a:rPr sz="1400" dirty="0" err="1">
                <a:solidFill>
                  <a:srgbClr val="333333"/>
                </a:solidFill>
              </a:rPr>
              <a:t>frecuencia</a:t>
            </a:r>
            <a:r>
              <a:rPr sz="1400" dirty="0">
                <a:solidFill>
                  <a:srgbClr val="333333"/>
                </a:solidFill>
              </a:rPr>
              <a:t>. </a:t>
            </a:r>
            <a:r>
              <a:rPr sz="1400" dirty="0" err="1">
                <a:solidFill>
                  <a:srgbClr val="333333"/>
                </a:solidFill>
              </a:rPr>
              <a:t>Convolución</a:t>
            </a:r>
            <a:r>
              <a:rPr sz="1400" dirty="0">
                <a:solidFill>
                  <a:srgbClr val="333333"/>
                </a:solidFill>
              </a:rPr>
              <a:t> causal </a:t>
            </a:r>
            <a:r>
              <a:rPr sz="1400" dirty="0" err="1">
                <a:solidFill>
                  <a:srgbClr val="333333"/>
                </a:solidFill>
              </a:rPr>
              <a:t>dilatada</a:t>
            </a:r>
            <a:r>
              <a:rPr sz="1400" dirty="0">
                <a:solidFill>
                  <a:srgbClr val="333333"/>
                </a:solidFill>
              </a:rPr>
              <a:t> para </a:t>
            </a:r>
            <a:r>
              <a:rPr sz="1400" dirty="0" err="1">
                <a:solidFill>
                  <a:srgbClr val="333333"/>
                </a:solidFill>
              </a:rPr>
              <a:t>patrones</a:t>
            </a:r>
            <a:r>
              <a:rPr sz="1400" dirty="0">
                <a:solidFill>
                  <a:srgbClr val="333333"/>
                </a:solidFill>
              </a:rPr>
              <a:t> locales sin </a:t>
            </a:r>
            <a:r>
              <a:rPr sz="1400" dirty="0" err="1">
                <a:solidFill>
                  <a:srgbClr val="333333"/>
                </a:solidFill>
              </a:rPr>
              <a:t>filtrar</a:t>
            </a:r>
            <a:r>
              <a:rPr sz="1400" dirty="0">
                <a:solidFill>
                  <a:srgbClr val="333333"/>
                </a:solidFill>
              </a:rPr>
              <a:t> </a:t>
            </a:r>
            <a:r>
              <a:rPr sz="1400" dirty="0" err="1">
                <a:solidFill>
                  <a:srgbClr val="333333"/>
                </a:solidFill>
              </a:rPr>
              <a:t>el</a:t>
            </a:r>
            <a:r>
              <a:rPr sz="1400" dirty="0">
                <a:solidFill>
                  <a:srgbClr val="333333"/>
                </a:solidFill>
              </a:rPr>
              <a:t> </a:t>
            </a:r>
            <a:r>
              <a:rPr sz="1400" dirty="0" err="1">
                <a:solidFill>
                  <a:srgbClr val="333333"/>
                </a:solidFill>
              </a:rPr>
              <a:t>futuro</a:t>
            </a:r>
            <a:r>
              <a:rPr sz="1400" dirty="0">
                <a:solidFill>
                  <a:srgbClr val="333333"/>
                </a:solidFill>
              </a:rPr>
              <a:t>.</a:t>
            </a:r>
          </a:p>
          <a:p>
            <a:pPr>
              <a:spcBef>
                <a:spcPts val="400"/>
              </a:spcBef>
              <a:spcAft>
                <a:spcPts val="300"/>
              </a:spcAft>
              <a:buNone/>
            </a:pPr>
            <a:r>
              <a:rPr sz="1400" b="1" dirty="0">
                <a:solidFill>
                  <a:srgbClr val="333333"/>
                </a:solidFill>
              </a:rPr>
              <a:t>Graph Attention Network (gat): </a:t>
            </a:r>
            <a:r>
              <a:rPr sz="1400" dirty="0">
                <a:solidFill>
                  <a:srgbClr val="333333"/>
                </a:solidFill>
              </a:rPr>
              <a:t>Ambas </a:t>
            </a:r>
            <a:r>
              <a:rPr sz="1400" dirty="0" err="1">
                <a:solidFill>
                  <a:srgbClr val="333333"/>
                </a:solidFill>
              </a:rPr>
              <a:t>ramas</a:t>
            </a:r>
            <a:r>
              <a:rPr sz="1400" dirty="0">
                <a:solidFill>
                  <a:srgbClr val="333333"/>
                </a:solidFill>
              </a:rPr>
              <a:t> se </a:t>
            </a:r>
            <a:r>
              <a:rPr sz="1400" dirty="0" err="1">
                <a:solidFill>
                  <a:srgbClr val="333333"/>
                </a:solidFill>
              </a:rPr>
              <a:t>fusionan</a:t>
            </a:r>
            <a:r>
              <a:rPr sz="1400" dirty="0">
                <a:solidFill>
                  <a:srgbClr val="333333"/>
                </a:solidFill>
              </a:rPr>
              <a:t> con embeddings de </a:t>
            </a:r>
            <a:r>
              <a:rPr sz="1400" dirty="0" err="1">
                <a:solidFill>
                  <a:srgbClr val="333333"/>
                </a:solidFill>
              </a:rPr>
              <a:t>grafos</a:t>
            </a:r>
            <a:r>
              <a:rPr sz="1400" dirty="0">
                <a:solidFill>
                  <a:srgbClr val="333333"/>
                </a:solidFill>
              </a:rPr>
              <a:t> </a:t>
            </a:r>
            <a:r>
              <a:rPr sz="1400" dirty="0" err="1">
                <a:solidFill>
                  <a:srgbClr val="333333"/>
                </a:solidFill>
              </a:rPr>
              <a:t>espacial</a:t>
            </a:r>
            <a:r>
              <a:rPr sz="1400" dirty="0">
                <a:solidFill>
                  <a:srgbClr val="333333"/>
                </a:solidFill>
              </a:rPr>
              <a:t> (Struc2Vec) y</a:t>
            </a:r>
            <a:r>
              <a:rPr lang="en-ES" sz="1400" dirty="0">
                <a:solidFill>
                  <a:srgbClr val="333333"/>
                </a:solidFill>
              </a:rPr>
              <a:t> </a:t>
            </a:r>
            <a:r>
              <a:rPr sz="1400" dirty="0">
                <a:solidFill>
                  <a:srgbClr val="333333"/>
                </a:solidFill>
              </a:rPr>
              <a:t>temporal.</a:t>
            </a:r>
          </a:p>
          <a:p>
            <a:pPr>
              <a:spcBef>
                <a:spcPts val="400"/>
              </a:spcBef>
              <a:spcAft>
                <a:spcPts val="300"/>
              </a:spcAft>
              <a:buNone/>
            </a:pPr>
            <a:r>
              <a:rPr sz="1400" b="1" dirty="0" err="1">
                <a:solidFill>
                  <a:srgbClr val="333333"/>
                </a:solidFill>
              </a:rPr>
              <a:t>Grafo</a:t>
            </a:r>
            <a:r>
              <a:rPr sz="1400" b="1" dirty="0">
                <a:solidFill>
                  <a:srgbClr val="333333"/>
                </a:solidFill>
              </a:rPr>
              <a:t> </a:t>
            </a:r>
            <a:r>
              <a:rPr sz="1400" b="1" dirty="0" err="1">
                <a:solidFill>
                  <a:srgbClr val="333333"/>
                </a:solidFill>
              </a:rPr>
              <a:t>espacial</a:t>
            </a:r>
            <a:r>
              <a:rPr sz="1400" b="1" dirty="0">
                <a:solidFill>
                  <a:srgbClr val="333333"/>
                </a:solidFill>
              </a:rPr>
              <a:t> (</a:t>
            </a:r>
            <a:r>
              <a:rPr sz="1400" b="1" dirty="0" err="1">
                <a:solidFill>
                  <a:srgbClr val="333333"/>
                </a:solidFill>
              </a:rPr>
              <a:t>Aspa</a:t>
            </a:r>
            <a:r>
              <a:rPr sz="1400" b="1" dirty="0">
                <a:solidFill>
                  <a:srgbClr val="333333"/>
                </a:solidFill>
              </a:rPr>
              <a:t>): </a:t>
            </a:r>
            <a:r>
              <a:rPr sz="1400" dirty="0">
                <a:solidFill>
                  <a:srgbClr val="333333"/>
                </a:solidFill>
              </a:rPr>
              <a:t>477×477 — </a:t>
            </a:r>
            <a:r>
              <a:rPr sz="1400" dirty="0" err="1">
                <a:solidFill>
                  <a:srgbClr val="333333"/>
                </a:solidFill>
              </a:rPr>
              <a:t>correlación</a:t>
            </a:r>
            <a:r>
              <a:rPr sz="1400" dirty="0">
                <a:solidFill>
                  <a:srgbClr val="333333"/>
                </a:solidFill>
              </a:rPr>
              <a:t> entre </a:t>
            </a:r>
            <a:r>
              <a:rPr sz="1400" dirty="0" err="1">
                <a:solidFill>
                  <a:srgbClr val="333333"/>
                </a:solidFill>
              </a:rPr>
              <a:t>acciones</a:t>
            </a:r>
            <a:r>
              <a:rPr sz="1400" dirty="0">
                <a:solidFill>
                  <a:srgbClr val="333333"/>
                </a:solidFill>
              </a:rPr>
              <a:t> con umbral |</a:t>
            </a:r>
            <a:r>
              <a:rPr sz="1400" dirty="0" err="1">
                <a:solidFill>
                  <a:srgbClr val="333333"/>
                </a:solidFill>
              </a:rPr>
              <a:t>corr</a:t>
            </a:r>
            <a:r>
              <a:rPr sz="1400" dirty="0">
                <a:solidFill>
                  <a:srgbClr val="333333"/>
                </a:solidFill>
              </a:rPr>
              <a:t>|&gt;0.3, </a:t>
            </a:r>
            <a:r>
              <a:rPr sz="1400" dirty="0" err="1">
                <a:solidFill>
                  <a:srgbClr val="333333"/>
                </a:solidFill>
              </a:rPr>
              <a:t>codificada</a:t>
            </a:r>
            <a:r>
              <a:rPr sz="1400" dirty="0">
                <a:solidFill>
                  <a:srgbClr val="333333"/>
                </a:solidFill>
              </a:rPr>
              <a:t> </a:t>
            </a:r>
            <a:r>
              <a:rPr sz="1400" dirty="0" err="1">
                <a:solidFill>
                  <a:srgbClr val="333333"/>
                </a:solidFill>
              </a:rPr>
              <a:t>como</a:t>
            </a:r>
            <a:r>
              <a:rPr sz="1400" dirty="0">
                <a:solidFill>
                  <a:srgbClr val="333333"/>
                </a:solidFill>
              </a:rPr>
              <a:t> Struc2Vec 477×128.</a:t>
            </a:r>
          </a:p>
          <a:p>
            <a:pPr>
              <a:spcBef>
                <a:spcPts val="400"/>
              </a:spcBef>
              <a:spcAft>
                <a:spcPts val="300"/>
              </a:spcAft>
              <a:buNone/>
            </a:pPr>
            <a:r>
              <a:rPr sz="1400" b="1" dirty="0" err="1">
                <a:solidFill>
                  <a:srgbClr val="333333"/>
                </a:solidFill>
              </a:rPr>
              <a:t>Grafo</a:t>
            </a:r>
            <a:r>
              <a:rPr sz="1400" b="1" dirty="0">
                <a:solidFill>
                  <a:srgbClr val="333333"/>
                </a:solidFill>
              </a:rPr>
              <a:t> temporal (Atem): </a:t>
            </a:r>
            <a:r>
              <a:rPr sz="1400" dirty="0" err="1">
                <a:solidFill>
                  <a:srgbClr val="333333"/>
                </a:solidFill>
              </a:rPr>
              <a:t>Conecta</a:t>
            </a:r>
            <a:r>
              <a:rPr sz="1400" dirty="0">
                <a:solidFill>
                  <a:srgbClr val="333333"/>
                </a:solidFill>
              </a:rPr>
              <a:t> time slots </a:t>
            </a:r>
            <a:r>
              <a:rPr sz="1400" dirty="0" err="1">
                <a:solidFill>
                  <a:srgbClr val="333333"/>
                </a:solidFill>
              </a:rPr>
              <a:t>adyacentes</a:t>
            </a:r>
            <a:r>
              <a:rPr sz="1400" dirty="0">
                <a:solidFill>
                  <a:srgbClr val="333333"/>
                </a:solidFill>
              </a:rPr>
              <a:t> (</a:t>
            </a:r>
            <a:r>
              <a:rPr sz="1400" dirty="0" err="1">
                <a:solidFill>
                  <a:srgbClr val="333333"/>
                </a:solidFill>
              </a:rPr>
              <a:t>diarios</a:t>
            </a:r>
            <a:r>
              <a:rPr sz="1400" dirty="0">
                <a:solidFill>
                  <a:srgbClr val="333333"/>
                </a:solidFill>
              </a:rPr>
              <a:t> y </a:t>
            </a:r>
            <a:r>
              <a:rPr sz="1400" dirty="0" err="1">
                <a:solidFill>
                  <a:srgbClr val="333333"/>
                </a:solidFill>
              </a:rPr>
              <a:t>mensuales</a:t>
            </a:r>
            <a:r>
              <a:rPr sz="1400" dirty="0">
                <a:solidFill>
                  <a:srgbClr val="333333"/>
                </a:solidFill>
              </a:rPr>
              <a:t>) para </a:t>
            </a:r>
            <a:r>
              <a:rPr sz="1400" dirty="0" err="1">
                <a:solidFill>
                  <a:srgbClr val="333333"/>
                </a:solidFill>
              </a:rPr>
              <a:t>capturar</a:t>
            </a:r>
            <a:r>
              <a:rPr sz="1400" dirty="0">
                <a:solidFill>
                  <a:srgbClr val="333333"/>
                </a:solidFill>
              </a:rPr>
              <a:t> </a:t>
            </a:r>
            <a:r>
              <a:rPr sz="1400" dirty="0" err="1">
                <a:solidFill>
                  <a:srgbClr val="333333"/>
                </a:solidFill>
              </a:rPr>
              <a:t>periodicidades</a:t>
            </a:r>
            <a:r>
              <a:rPr sz="1400" dirty="0">
                <a:solidFill>
                  <a:srgbClr val="333333"/>
                </a:solidFill>
              </a:rPr>
              <a:t>.</a:t>
            </a:r>
          </a:p>
          <a:p>
            <a:pPr>
              <a:spcBef>
                <a:spcPts val="400"/>
              </a:spcBef>
              <a:spcAft>
                <a:spcPts val="300"/>
              </a:spcAft>
              <a:buNone/>
            </a:pPr>
            <a:r>
              <a:rPr sz="1400" b="1" dirty="0">
                <a:solidFill>
                  <a:srgbClr val="333333"/>
                </a:solidFill>
              </a:rPr>
              <a:t>L </a:t>
            </a:r>
            <a:r>
              <a:rPr sz="1400" b="1" dirty="0" err="1">
                <a:solidFill>
                  <a:srgbClr val="333333"/>
                </a:solidFill>
              </a:rPr>
              <a:t>capas</a:t>
            </a:r>
            <a:r>
              <a:rPr sz="1400" b="1" dirty="0">
                <a:solidFill>
                  <a:srgbClr val="333333"/>
                </a:solidFill>
              </a:rPr>
              <a:t> </a:t>
            </a:r>
            <a:r>
              <a:rPr sz="1400" b="1" dirty="0" err="1">
                <a:solidFill>
                  <a:srgbClr val="333333"/>
                </a:solidFill>
              </a:rPr>
              <a:t>apiladas</a:t>
            </a:r>
            <a:r>
              <a:rPr sz="1400" b="1" dirty="0">
                <a:solidFill>
                  <a:srgbClr val="333333"/>
                </a:solidFill>
              </a:rPr>
              <a:t>: </a:t>
            </a:r>
            <a:r>
              <a:rPr sz="1400" dirty="0">
                <a:solidFill>
                  <a:srgbClr val="333333"/>
                </a:solidFill>
              </a:rPr>
              <a:t>Cada </a:t>
            </a:r>
            <a:r>
              <a:rPr sz="1400" dirty="0" err="1">
                <a:solidFill>
                  <a:srgbClr val="333333"/>
                </a:solidFill>
              </a:rPr>
              <a:t>capa</a:t>
            </a:r>
            <a:r>
              <a:rPr sz="1400" dirty="0">
                <a:solidFill>
                  <a:srgbClr val="333333"/>
                </a:solidFill>
              </a:rPr>
              <a:t> </a:t>
            </a:r>
            <a:r>
              <a:rPr sz="1400" dirty="0" err="1">
                <a:solidFill>
                  <a:srgbClr val="333333"/>
                </a:solidFill>
              </a:rPr>
              <a:t>refina</a:t>
            </a:r>
            <a:r>
              <a:rPr sz="1400" dirty="0">
                <a:solidFill>
                  <a:srgbClr val="333333"/>
                </a:solidFill>
              </a:rPr>
              <a:t> las </a:t>
            </a:r>
            <a:r>
              <a:rPr sz="1400" dirty="0" err="1">
                <a:solidFill>
                  <a:srgbClr val="333333"/>
                </a:solidFill>
              </a:rPr>
              <a:t>representaciones</a:t>
            </a:r>
            <a:r>
              <a:rPr sz="1400" dirty="0">
                <a:solidFill>
                  <a:srgbClr val="333333"/>
                </a:solidFill>
              </a:rPr>
              <a:t> </a:t>
            </a:r>
            <a:r>
              <a:rPr sz="1400" dirty="0" err="1">
                <a:solidFill>
                  <a:srgbClr val="333333"/>
                </a:solidFill>
              </a:rPr>
              <a:t>espaciotemporales</a:t>
            </a:r>
            <a:r>
              <a:rPr sz="1400" dirty="0">
                <a:solidFill>
                  <a:srgbClr val="333333"/>
                </a:solidFill>
              </a:rPr>
              <a:t> de ambas </a:t>
            </a:r>
            <a:r>
              <a:rPr sz="1400" dirty="0" err="1">
                <a:solidFill>
                  <a:srgbClr val="333333"/>
                </a:solidFill>
              </a:rPr>
              <a:t>frecuencias</a:t>
            </a:r>
            <a:r>
              <a:rPr sz="1400" dirty="0">
                <a:solidFill>
                  <a:srgbClr val="333333"/>
                </a:solidFill>
              </a:rPr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C4FAB7-9AC7-4F44-B570-F476B4CAAB4C}"/>
              </a:ext>
            </a:extLst>
          </p:cNvPr>
          <p:cNvSpPr/>
          <p:nvPr/>
        </p:nvSpPr>
        <p:spPr>
          <a:xfrm>
            <a:off x="927100" y="1117600"/>
            <a:ext cx="7289800" cy="25400"/>
          </a:xfrm>
          <a:prstGeom prst="rect">
            <a:avLst/>
          </a:prstGeom>
          <a:solidFill>
            <a:srgbClr val="5B9BD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E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1B2A13-72C7-B34B-92DA-D9DED08C1157}"/>
              </a:ext>
            </a:extLst>
          </p:cNvPr>
          <p:cNvSpPr/>
          <p:nvPr/>
        </p:nvSpPr>
        <p:spPr>
          <a:xfrm>
            <a:off x="825500" y="1270000"/>
            <a:ext cx="38100" cy="4826000"/>
          </a:xfrm>
          <a:prstGeom prst="rect">
            <a:avLst/>
          </a:prstGeom>
          <a:solidFill>
            <a:srgbClr val="5B9BD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29329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4E79"/>
                </a:solidFill>
              </a:rPr>
              <a:t>Grafos Temporales y Struc2Vec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6100" y="1847850"/>
            <a:ext cx="3840480" cy="381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400" b="1">
                <a:solidFill>
                  <a:srgbClr val="333333"/>
                </a:solidFill>
                <a:latin typeface="Calibri Light"/>
                <a:cs typeface="Calibri Light"/>
              </a:rPr>
              <a:t>Grafo temporal: </a:t>
            </a:r>
            <a:r>
              <a:rPr sz="1400">
                <a:solidFill>
                  <a:srgbClr val="333333"/>
                </a:solidFill>
                <a:latin typeface="Calibri Light"/>
                <a:cs typeface="Calibri Light"/>
              </a:rPr>
              <a:t>cada nodo es un time slot (día), conectado a días adyacentes y al mismo día del mes siguiente.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400" b="1">
                <a:solidFill>
                  <a:srgbClr val="333333"/>
                </a:solidFill>
                <a:latin typeface="Calibri Light"/>
                <a:cs typeface="Calibri Light"/>
              </a:rPr>
              <a:t>Struc2Vec: </a:t>
            </a:r>
            <a:r>
              <a:rPr sz="1400">
                <a:solidFill>
                  <a:srgbClr val="333333"/>
                </a:solidFill>
                <a:latin typeface="Calibri Light"/>
                <a:cs typeface="Calibri Light"/>
              </a:rPr>
              <a:t>genera embeddings 128-dim para cada acción a partir del grafo de correlaciones.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400" b="1">
                <a:solidFill>
                  <a:srgbClr val="333333"/>
                </a:solidFill>
                <a:latin typeface="Calibri Light"/>
                <a:cs typeface="Calibri Light"/>
              </a:rPr>
              <a:t>Fusión: </a:t>
            </a:r>
            <a:r>
              <a:rPr sz="1400">
                <a:solidFill>
                  <a:srgbClr val="333333"/>
                </a:solidFill>
                <a:latin typeface="Calibri Light"/>
                <a:cs typeface="Calibri Light"/>
              </a:rPr>
              <a:t>los embeddings de grafo se suman a las representaciones de ambas ramas (temporal y convolucional).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400" b="1">
                <a:solidFill>
                  <a:srgbClr val="333333"/>
                </a:solidFill>
                <a:latin typeface="Calibri Light"/>
                <a:cs typeface="Calibri Light"/>
              </a:rPr>
              <a:t>Resultado: </a:t>
            </a:r>
            <a:r>
              <a:rPr sz="1400">
                <a:solidFill>
                  <a:srgbClr val="333333"/>
                </a:solidFill>
                <a:latin typeface="Calibri Light"/>
                <a:cs typeface="Calibri Light"/>
              </a:rPr>
              <a:t>captura tanto las relaciones entre acciones (espacial) como las dependencias temporales.</a:t>
            </a:r>
          </a:p>
        </p:txBody>
      </p:sp>
      <p:pic>
        <p:nvPicPr>
          <p:cNvPr id="4" name="Picture 3" descr="paper_temporal_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6920" y="2313671"/>
            <a:ext cx="4069080" cy="287835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D770EC8-407D-8348-BCF1-909A57257F84}"/>
              </a:ext>
            </a:extLst>
          </p:cNvPr>
          <p:cNvSpPr/>
          <p:nvPr/>
        </p:nvSpPr>
        <p:spPr>
          <a:xfrm>
            <a:off x="927100" y="1117600"/>
            <a:ext cx="7289800" cy="25400"/>
          </a:xfrm>
          <a:prstGeom prst="rect">
            <a:avLst/>
          </a:prstGeom>
          <a:solidFill>
            <a:srgbClr val="5B9BD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4086757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4E79"/>
                </a:solidFill>
              </a:rPr>
              <a:t>Pipeline End-to-End</a:t>
            </a:r>
          </a:p>
        </p:txBody>
      </p:sp>
      <p:pic>
        <p:nvPicPr>
          <p:cNvPr id="3" name="Picture 2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2390329"/>
            <a:ext cx="8128000" cy="268694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4B7F47A-8711-3047-98DC-01D2A5153795}"/>
              </a:ext>
            </a:extLst>
          </p:cNvPr>
          <p:cNvSpPr/>
          <p:nvPr/>
        </p:nvSpPr>
        <p:spPr>
          <a:xfrm>
            <a:off x="927100" y="1117600"/>
            <a:ext cx="7289800" cy="25400"/>
          </a:xfrm>
          <a:prstGeom prst="rect">
            <a:avLst/>
          </a:prstGeom>
          <a:solidFill>
            <a:srgbClr val="5B9BD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E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4E79"/>
                </a:solidFill>
              </a:rPr>
              <a:t>Factores Alpha360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6100" y="1847850"/>
            <a:ext cx="3840480" cy="381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400" b="1">
                <a:solidFill>
                  <a:srgbClr val="333333"/>
                </a:solidFill>
                <a:latin typeface="Calibri Light"/>
                <a:cs typeface="Calibri Light"/>
              </a:rPr>
              <a:t>360 factores precio-volumen</a:t>
            </a:r>
            <a:r>
              <a:rPr sz="1400">
                <a:solidFill>
                  <a:srgbClr val="333333"/>
                </a:solidFill>
                <a:latin typeface="Calibri Light"/>
                <a:cs typeface="Calibri Light"/>
              </a:rPr>
              <a:t> (6 campos × 60 lags diarios).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400" b="1">
                <a:solidFill>
                  <a:srgbClr val="333333"/>
                </a:solidFill>
                <a:latin typeface="Calibri Light"/>
                <a:cs typeface="Calibri Light"/>
              </a:rPr>
              <a:t>Normalización cross-sectional: </a:t>
            </a:r>
            <a:r>
              <a:rPr sz="1400">
                <a:solidFill>
                  <a:srgbClr val="333333"/>
                </a:solidFill>
                <a:latin typeface="Calibri Light"/>
                <a:cs typeface="Calibri Light"/>
              </a:rPr>
              <a:t>z-score diario entre las 477 acciones para eliminar efectos de mercado.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400" b="1">
                <a:solidFill>
                  <a:srgbClr val="333333"/>
                </a:solidFill>
                <a:latin typeface="Calibri Light"/>
                <a:cs typeface="Calibri Light"/>
              </a:rPr>
              <a:t>Campos: </a:t>
            </a:r>
            <a:r>
              <a:rPr sz="1400">
                <a:solidFill>
                  <a:srgbClr val="333333"/>
                </a:solidFill>
                <a:latin typeface="Calibri Light"/>
                <a:cs typeface="Calibri Light"/>
              </a:rPr>
              <a:t>CLOSE, OPEN, HIGH, LOW, VWAP, VOL — ratios sobre cierre pasado.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400" b="1">
                <a:solidFill>
                  <a:srgbClr val="333333"/>
                </a:solidFill>
                <a:latin typeface="Calibri Light"/>
                <a:cs typeface="Calibri Light"/>
              </a:rPr>
              <a:t>Adaptación S&amp;P 500: </a:t>
            </a:r>
            <a:r>
              <a:rPr sz="1400">
                <a:solidFill>
                  <a:srgbClr val="333333"/>
                </a:solidFill>
                <a:latin typeface="Calibri Light"/>
                <a:cs typeface="Calibri Light"/>
              </a:rPr>
              <a:t>VWAP aproximado como (H+L+C)/3 al no disponer de datos tick.</a:t>
            </a:r>
          </a:p>
        </p:txBody>
      </p:sp>
      <p:pic>
        <p:nvPicPr>
          <p:cNvPr id="4" name="Picture 3" descr="alpha3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6920" y="2585301"/>
            <a:ext cx="4069080" cy="233509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654E176-357F-AC4C-B5B9-53670D34DBF1}"/>
              </a:ext>
            </a:extLst>
          </p:cNvPr>
          <p:cNvSpPr/>
          <p:nvPr/>
        </p:nvSpPr>
        <p:spPr>
          <a:xfrm>
            <a:off x="927100" y="1117600"/>
            <a:ext cx="7289800" cy="25400"/>
          </a:xfrm>
          <a:prstGeom prst="rect">
            <a:avLst/>
          </a:prstGeom>
          <a:solidFill>
            <a:srgbClr val="5B9BD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92874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4E79"/>
                </a:solidFill>
              </a:rPr>
              <a:t>Configuración del Modelo y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>
              <a:spcBef>
                <a:spcPts val="400"/>
              </a:spcBef>
              <a:spcAft>
                <a:spcPts val="300"/>
              </a:spcAft>
              <a:buNone/>
            </a:pPr>
            <a:r>
              <a:rPr sz="1400" b="1" dirty="0">
                <a:solidFill>
                  <a:srgbClr val="333333"/>
                </a:solidFill>
              </a:rPr>
              <a:t>Universo: </a:t>
            </a:r>
            <a:r>
              <a:rPr sz="1400" dirty="0">
                <a:solidFill>
                  <a:srgbClr val="333333"/>
                </a:solidFill>
              </a:rPr>
              <a:t>477 </a:t>
            </a:r>
            <a:r>
              <a:rPr sz="1400" dirty="0" err="1">
                <a:solidFill>
                  <a:srgbClr val="333333"/>
                </a:solidFill>
              </a:rPr>
              <a:t>acciones</a:t>
            </a:r>
            <a:r>
              <a:rPr sz="1400" dirty="0">
                <a:solidFill>
                  <a:srgbClr val="333333"/>
                </a:solidFill>
              </a:rPr>
              <a:t> del S&amp;P 500 (</a:t>
            </a:r>
            <a:r>
              <a:rPr sz="1400" dirty="0" err="1">
                <a:solidFill>
                  <a:srgbClr val="333333"/>
                </a:solidFill>
              </a:rPr>
              <a:t>filtradas</a:t>
            </a:r>
            <a:r>
              <a:rPr sz="1400" dirty="0">
                <a:solidFill>
                  <a:srgbClr val="333333"/>
                </a:solidFill>
              </a:rPr>
              <a:t> </a:t>
            </a:r>
            <a:r>
              <a:rPr sz="1400" dirty="0" err="1">
                <a:solidFill>
                  <a:srgbClr val="333333"/>
                </a:solidFill>
              </a:rPr>
              <a:t>por</a:t>
            </a:r>
            <a:r>
              <a:rPr sz="1400" dirty="0">
                <a:solidFill>
                  <a:srgbClr val="333333"/>
                </a:solidFill>
              </a:rPr>
              <a:t> </a:t>
            </a:r>
            <a:r>
              <a:rPr sz="1400" dirty="0" err="1">
                <a:solidFill>
                  <a:srgbClr val="333333"/>
                </a:solidFill>
              </a:rPr>
              <a:t>disponibilidad</a:t>
            </a:r>
            <a:r>
              <a:rPr sz="1400" dirty="0">
                <a:solidFill>
                  <a:srgbClr val="333333"/>
                </a:solidFill>
              </a:rPr>
              <a:t> &gt;80% </a:t>
            </a:r>
            <a:r>
              <a:rPr sz="1400" dirty="0" err="1">
                <a:solidFill>
                  <a:srgbClr val="333333"/>
                </a:solidFill>
              </a:rPr>
              <a:t>datos</a:t>
            </a:r>
            <a:r>
              <a:rPr sz="1400" dirty="0">
                <a:solidFill>
                  <a:srgbClr val="333333"/>
                </a:solidFill>
              </a:rPr>
              <a:t>)</a:t>
            </a:r>
          </a:p>
          <a:p>
            <a:pPr>
              <a:spcBef>
                <a:spcPts val="400"/>
              </a:spcBef>
              <a:spcAft>
                <a:spcPts val="300"/>
              </a:spcAft>
              <a:buNone/>
            </a:pPr>
            <a:r>
              <a:rPr sz="1400" b="1" dirty="0" err="1">
                <a:solidFill>
                  <a:srgbClr val="333333"/>
                </a:solidFill>
              </a:rPr>
              <a:t>Periodo</a:t>
            </a:r>
            <a:r>
              <a:rPr sz="1400" b="1" dirty="0">
                <a:solidFill>
                  <a:srgbClr val="333333"/>
                </a:solidFill>
              </a:rPr>
              <a:t>: </a:t>
            </a:r>
            <a:r>
              <a:rPr sz="1400" dirty="0">
                <a:solidFill>
                  <a:srgbClr val="333333"/>
                </a:solidFill>
              </a:rPr>
              <a:t>2018-01-01 a 2026-03-16 (2.060 días de trading)</a:t>
            </a:r>
          </a:p>
          <a:p>
            <a:pPr>
              <a:spcBef>
                <a:spcPts val="400"/>
              </a:spcBef>
              <a:spcAft>
                <a:spcPts val="300"/>
              </a:spcAft>
              <a:buNone/>
            </a:pPr>
            <a:r>
              <a:rPr sz="1400" b="1" dirty="0">
                <a:solidFill>
                  <a:srgbClr val="333333"/>
                </a:solidFill>
              </a:rPr>
              <a:t>Split: </a:t>
            </a:r>
            <a:r>
              <a:rPr sz="1400" dirty="0">
                <a:solidFill>
                  <a:srgbClr val="333333"/>
                </a:solidFill>
              </a:rPr>
              <a:t>Train 75% (1.544 días) | Val 12.5% (257 días) | Test 12.5% (259 días)</a:t>
            </a:r>
          </a:p>
          <a:p>
            <a:pPr>
              <a:spcBef>
                <a:spcPts val="400"/>
              </a:spcBef>
              <a:spcAft>
                <a:spcPts val="300"/>
              </a:spcAft>
              <a:buNone/>
            </a:pPr>
            <a:r>
              <a:rPr sz="1400" b="1" dirty="0">
                <a:solidFill>
                  <a:srgbClr val="333333"/>
                </a:solidFill>
              </a:rPr>
              <a:t>Lookback T1=20 días, </a:t>
            </a:r>
            <a:r>
              <a:rPr sz="1400" dirty="0">
                <a:solidFill>
                  <a:srgbClr val="333333"/>
                </a:solidFill>
              </a:rPr>
              <a:t>Forecast T2=2 días, Wavelet=Sym2, </a:t>
            </a:r>
            <a:r>
              <a:rPr sz="1400" dirty="0" err="1">
                <a:solidFill>
                  <a:srgbClr val="333333"/>
                </a:solidFill>
              </a:rPr>
              <a:t>nivel</a:t>
            </a:r>
            <a:r>
              <a:rPr sz="1400" dirty="0">
                <a:solidFill>
                  <a:srgbClr val="333333"/>
                </a:solidFill>
              </a:rPr>
              <a:t>=1</a:t>
            </a:r>
          </a:p>
          <a:p>
            <a:pPr>
              <a:spcBef>
                <a:spcPts val="400"/>
              </a:spcBef>
              <a:spcAft>
                <a:spcPts val="300"/>
              </a:spcAft>
              <a:buNone/>
            </a:pPr>
            <a:r>
              <a:rPr sz="1400" b="1" dirty="0">
                <a:solidFill>
                  <a:srgbClr val="333333"/>
                </a:solidFill>
              </a:rPr>
              <a:t>Modelo: </a:t>
            </a:r>
            <a:r>
              <a:rPr sz="1400" dirty="0">
                <a:solidFill>
                  <a:srgbClr val="333333"/>
                </a:solidFill>
              </a:rPr>
              <a:t>2 </a:t>
            </a:r>
            <a:r>
              <a:rPr sz="1400" dirty="0" err="1">
                <a:solidFill>
                  <a:srgbClr val="333333"/>
                </a:solidFill>
              </a:rPr>
              <a:t>capas</a:t>
            </a:r>
            <a:r>
              <a:rPr sz="1400" dirty="0">
                <a:solidFill>
                  <a:srgbClr val="333333"/>
                </a:solidFill>
              </a:rPr>
              <a:t> </a:t>
            </a:r>
            <a:r>
              <a:rPr sz="1400" dirty="0" err="1">
                <a:solidFill>
                  <a:srgbClr val="333333"/>
                </a:solidFill>
              </a:rPr>
              <a:t>DualEncoder</a:t>
            </a:r>
            <a:r>
              <a:rPr sz="1400" dirty="0">
                <a:solidFill>
                  <a:srgbClr val="333333"/>
                </a:solidFill>
              </a:rPr>
              <a:t>, 1 head </a:t>
            </a:r>
            <a:r>
              <a:rPr sz="1400" dirty="0" err="1">
                <a:solidFill>
                  <a:srgbClr val="333333"/>
                </a:solidFill>
              </a:rPr>
              <a:t>atención</a:t>
            </a:r>
            <a:r>
              <a:rPr sz="1400" dirty="0">
                <a:solidFill>
                  <a:srgbClr val="333333"/>
                </a:solidFill>
              </a:rPr>
              <a:t>, dim=128, batch=12, LR=0.001</a:t>
            </a:r>
          </a:p>
          <a:p>
            <a:pPr>
              <a:spcBef>
                <a:spcPts val="400"/>
              </a:spcBef>
              <a:spcAft>
                <a:spcPts val="300"/>
              </a:spcAft>
              <a:buNone/>
            </a:pPr>
            <a:r>
              <a:rPr sz="1400" b="1" dirty="0" err="1">
                <a:solidFill>
                  <a:srgbClr val="333333"/>
                </a:solidFill>
              </a:rPr>
              <a:t>Entrenamiento</a:t>
            </a:r>
            <a:r>
              <a:rPr sz="1400" b="1" dirty="0">
                <a:solidFill>
                  <a:srgbClr val="333333"/>
                </a:solidFill>
              </a:rPr>
              <a:t>: </a:t>
            </a:r>
            <a:r>
              <a:rPr sz="1400" dirty="0">
                <a:solidFill>
                  <a:srgbClr val="333333"/>
                </a:solidFill>
              </a:rPr>
              <a:t>50 epochs, GPU</a:t>
            </a:r>
            <a:endParaRPr lang="es-ES" sz="140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  <a:spcAft>
                <a:spcPts val="300"/>
              </a:spcAft>
              <a:buNone/>
            </a:pPr>
            <a:r>
              <a:rPr sz="1400" b="1" dirty="0">
                <a:solidFill>
                  <a:srgbClr val="333333"/>
                </a:solidFill>
              </a:rPr>
              <a:t>Loss: </a:t>
            </a:r>
            <a:r>
              <a:rPr sz="1400" dirty="0">
                <a:solidFill>
                  <a:srgbClr val="333333"/>
                </a:solidFill>
              </a:rPr>
              <a:t>L = </a:t>
            </a:r>
            <a:r>
              <a:rPr sz="1400" dirty="0" err="1">
                <a:solidFill>
                  <a:srgbClr val="333333"/>
                </a:solidFill>
              </a:rPr>
              <a:t>L_reg</a:t>
            </a:r>
            <a:r>
              <a:rPr sz="1400" dirty="0">
                <a:solidFill>
                  <a:srgbClr val="333333"/>
                </a:solidFill>
              </a:rPr>
              <a:t> (MAE) + </a:t>
            </a:r>
            <a:r>
              <a:rPr sz="1400" dirty="0" err="1">
                <a:solidFill>
                  <a:srgbClr val="333333"/>
                </a:solidFill>
              </a:rPr>
              <a:t>L_cla</a:t>
            </a:r>
            <a:r>
              <a:rPr sz="1400" dirty="0">
                <a:solidFill>
                  <a:srgbClr val="333333"/>
                </a:solidFill>
              </a:rPr>
              <a:t> (</a:t>
            </a:r>
            <a:r>
              <a:rPr sz="1400" dirty="0" err="1">
                <a:solidFill>
                  <a:srgbClr val="333333"/>
                </a:solidFill>
              </a:rPr>
              <a:t>CrossEntropy</a:t>
            </a:r>
            <a:r>
              <a:rPr sz="1400" dirty="0">
                <a:solidFill>
                  <a:srgbClr val="333333"/>
                </a:solidFill>
              </a:rPr>
              <a:t>), pesos </a:t>
            </a:r>
            <a:r>
              <a:rPr sz="1400" dirty="0" err="1">
                <a:solidFill>
                  <a:srgbClr val="333333"/>
                </a:solidFill>
              </a:rPr>
              <a:t>iguales</a:t>
            </a:r>
            <a:endParaRPr sz="1400" dirty="0">
              <a:solidFill>
                <a:srgbClr val="333333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4C3CC1-08A5-4141-80F0-EF1E97B5DD1C}"/>
              </a:ext>
            </a:extLst>
          </p:cNvPr>
          <p:cNvSpPr/>
          <p:nvPr/>
        </p:nvSpPr>
        <p:spPr>
          <a:xfrm>
            <a:off x="927100" y="1117600"/>
            <a:ext cx="7289800" cy="25400"/>
          </a:xfrm>
          <a:prstGeom prst="rect">
            <a:avLst/>
          </a:prstGeom>
          <a:solidFill>
            <a:srgbClr val="5B9BD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E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C06FA4-4A8B-284D-AF40-3721DEFDA929}"/>
              </a:ext>
            </a:extLst>
          </p:cNvPr>
          <p:cNvSpPr/>
          <p:nvPr/>
        </p:nvSpPr>
        <p:spPr>
          <a:xfrm>
            <a:off x="825500" y="1270000"/>
            <a:ext cx="38100" cy="48260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811008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4E79"/>
                </a:solidFill>
              </a:rPr>
              <a:t>Rolling Window (Entrenamiento Original)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6100" y="1847850"/>
            <a:ext cx="3840480" cy="381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400" b="1" dirty="0" err="1">
                <a:solidFill>
                  <a:srgbClr val="333333"/>
                </a:solidFill>
                <a:latin typeface="Calibri Light"/>
                <a:cs typeface="Calibri Light"/>
              </a:rPr>
              <a:t>Metodología</a:t>
            </a:r>
            <a:r>
              <a:rPr sz="1400" b="1" dirty="0">
                <a:solidFill>
                  <a:srgbClr val="333333"/>
                </a:solidFill>
                <a:latin typeface="Calibri Light"/>
                <a:cs typeface="Calibri Light"/>
              </a:rPr>
              <a:t> del paper: </a:t>
            </a:r>
            <a:r>
              <a:rPr sz="1400" dirty="0">
                <a:solidFill>
                  <a:srgbClr val="333333"/>
                </a:solidFill>
                <a:latin typeface="Calibri Light"/>
                <a:cs typeface="Calibri Light"/>
              </a:rPr>
              <a:t>14 sub-datasets con </a:t>
            </a:r>
            <a:r>
              <a:rPr sz="1400" dirty="0" err="1">
                <a:solidFill>
                  <a:srgbClr val="333333"/>
                </a:solidFill>
                <a:latin typeface="Calibri Light"/>
                <a:cs typeface="Calibri Light"/>
              </a:rPr>
              <a:t>ventanas</a:t>
            </a:r>
            <a:r>
              <a:rPr sz="1400" dirty="0">
                <a:solidFill>
                  <a:srgbClr val="333333"/>
                </a:solidFill>
                <a:latin typeface="Calibri Light"/>
                <a:cs typeface="Calibri Light"/>
              </a:rPr>
              <a:t> </a:t>
            </a:r>
            <a:r>
              <a:rPr sz="1400" dirty="0" err="1">
                <a:solidFill>
                  <a:srgbClr val="333333"/>
                </a:solidFill>
                <a:latin typeface="Calibri Light"/>
                <a:cs typeface="Calibri Light"/>
              </a:rPr>
              <a:t>deslizantes</a:t>
            </a:r>
            <a:r>
              <a:rPr sz="1400" dirty="0">
                <a:solidFill>
                  <a:srgbClr val="333333"/>
                </a:solidFill>
                <a:latin typeface="Calibri Light"/>
                <a:cs typeface="Calibri Light"/>
              </a:rPr>
              <a:t> (486 train / 81 </a:t>
            </a:r>
            <a:r>
              <a:rPr sz="1400" dirty="0" err="1">
                <a:solidFill>
                  <a:srgbClr val="333333"/>
                </a:solidFill>
                <a:latin typeface="Calibri Light"/>
                <a:cs typeface="Calibri Light"/>
              </a:rPr>
              <a:t>val</a:t>
            </a:r>
            <a:r>
              <a:rPr sz="1400" dirty="0">
                <a:solidFill>
                  <a:srgbClr val="333333"/>
                </a:solidFill>
                <a:latin typeface="Calibri Light"/>
                <a:cs typeface="Calibri Light"/>
              </a:rPr>
              <a:t> / 81 test días).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400" b="1" dirty="0">
                <a:solidFill>
                  <a:srgbClr val="333333"/>
                </a:solidFill>
                <a:latin typeface="Calibri Light"/>
                <a:cs typeface="Calibri Light"/>
              </a:rPr>
              <a:t>Nuestra </a:t>
            </a:r>
            <a:r>
              <a:rPr sz="1400" b="1" dirty="0" err="1">
                <a:solidFill>
                  <a:srgbClr val="333333"/>
                </a:solidFill>
                <a:latin typeface="Calibri Light"/>
                <a:cs typeface="Calibri Light"/>
              </a:rPr>
              <a:t>adaptación</a:t>
            </a:r>
            <a:r>
              <a:rPr sz="1400" b="1" dirty="0">
                <a:solidFill>
                  <a:srgbClr val="333333"/>
                </a:solidFill>
                <a:latin typeface="Calibri Light"/>
                <a:cs typeface="Calibri Light"/>
              </a:rPr>
              <a:t>: </a:t>
            </a:r>
            <a:r>
              <a:rPr sz="1400" dirty="0">
                <a:solidFill>
                  <a:srgbClr val="333333"/>
                </a:solidFill>
                <a:latin typeface="Calibri Light"/>
                <a:cs typeface="Calibri Light"/>
              </a:rPr>
              <a:t>un solo split 75/12.5/12.5 </a:t>
            </a:r>
            <a:r>
              <a:rPr sz="1400" dirty="0" err="1">
                <a:solidFill>
                  <a:srgbClr val="333333"/>
                </a:solidFill>
                <a:latin typeface="Calibri Light"/>
                <a:cs typeface="Calibri Light"/>
              </a:rPr>
              <a:t>por</a:t>
            </a:r>
            <a:r>
              <a:rPr sz="1400" dirty="0">
                <a:solidFill>
                  <a:srgbClr val="333333"/>
                </a:solidFill>
                <a:latin typeface="Calibri Light"/>
                <a:cs typeface="Calibri Light"/>
              </a:rPr>
              <a:t> </a:t>
            </a:r>
            <a:r>
              <a:rPr sz="1400" dirty="0" err="1">
                <a:solidFill>
                  <a:srgbClr val="333333"/>
                </a:solidFill>
                <a:latin typeface="Calibri Light"/>
                <a:cs typeface="Calibri Light"/>
              </a:rPr>
              <a:t>limitaciones</a:t>
            </a:r>
            <a:r>
              <a:rPr sz="1400" dirty="0">
                <a:solidFill>
                  <a:srgbClr val="333333"/>
                </a:solidFill>
                <a:latin typeface="Calibri Light"/>
                <a:cs typeface="Calibri Light"/>
              </a:rPr>
              <a:t> de </a:t>
            </a:r>
            <a:r>
              <a:rPr sz="1400" dirty="0" err="1">
                <a:solidFill>
                  <a:srgbClr val="333333"/>
                </a:solidFill>
                <a:latin typeface="Calibri Light"/>
                <a:cs typeface="Calibri Light"/>
              </a:rPr>
              <a:t>tiempo</a:t>
            </a:r>
            <a:r>
              <a:rPr sz="1400" dirty="0">
                <a:solidFill>
                  <a:srgbClr val="333333"/>
                </a:solidFill>
                <a:latin typeface="Calibri Light"/>
                <a:cs typeface="Calibri Light"/>
              </a:rPr>
              <a:t> de </a:t>
            </a:r>
            <a:r>
              <a:rPr sz="1400" dirty="0" err="1">
                <a:solidFill>
                  <a:srgbClr val="333333"/>
                </a:solidFill>
                <a:latin typeface="Calibri Light"/>
                <a:cs typeface="Calibri Light"/>
              </a:rPr>
              <a:t>cómputo</a:t>
            </a:r>
            <a:r>
              <a:rPr sz="1400" dirty="0">
                <a:solidFill>
                  <a:srgbClr val="333333"/>
                </a:solidFill>
                <a:latin typeface="Calibri Light"/>
                <a:cs typeface="Calibri Light"/>
              </a:rPr>
              <a:t> </a:t>
            </a:r>
            <a:r>
              <a:rPr sz="1400" dirty="0" err="1">
                <a:solidFill>
                  <a:srgbClr val="333333"/>
                </a:solidFill>
                <a:latin typeface="Calibri Light"/>
                <a:cs typeface="Calibri Light"/>
              </a:rPr>
              <a:t>en</a:t>
            </a:r>
            <a:r>
              <a:rPr sz="1400" dirty="0">
                <a:solidFill>
                  <a:srgbClr val="333333"/>
                </a:solidFill>
                <a:latin typeface="Calibri Light"/>
                <a:cs typeface="Calibri Light"/>
              </a:rPr>
              <a:t> GPU.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400" b="1" dirty="0" err="1">
                <a:solidFill>
                  <a:srgbClr val="333333"/>
                </a:solidFill>
                <a:latin typeface="Calibri Light"/>
                <a:cs typeface="Calibri Light"/>
              </a:rPr>
              <a:t>Ventaja</a:t>
            </a:r>
            <a:r>
              <a:rPr sz="1400" b="1" dirty="0">
                <a:solidFill>
                  <a:srgbClr val="333333"/>
                </a:solidFill>
                <a:latin typeface="Calibri Light"/>
                <a:cs typeface="Calibri Light"/>
              </a:rPr>
              <a:t> rolling: </a:t>
            </a:r>
            <a:r>
              <a:rPr sz="1400" dirty="0" err="1">
                <a:solidFill>
                  <a:srgbClr val="333333"/>
                </a:solidFill>
                <a:latin typeface="Calibri Light"/>
                <a:cs typeface="Calibri Light"/>
              </a:rPr>
              <a:t>evalúa</a:t>
            </a:r>
            <a:r>
              <a:rPr sz="1400" dirty="0">
                <a:solidFill>
                  <a:srgbClr val="333333"/>
                </a:solidFill>
                <a:latin typeface="Calibri Light"/>
                <a:cs typeface="Calibri Light"/>
              </a:rPr>
              <a:t> </a:t>
            </a:r>
            <a:r>
              <a:rPr sz="1400" dirty="0" err="1">
                <a:solidFill>
                  <a:srgbClr val="333333"/>
                </a:solidFill>
                <a:latin typeface="Calibri Light"/>
                <a:cs typeface="Calibri Light"/>
              </a:rPr>
              <a:t>estabilidad</a:t>
            </a:r>
            <a:r>
              <a:rPr sz="1400" dirty="0">
                <a:solidFill>
                  <a:srgbClr val="333333"/>
                </a:solidFill>
                <a:latin typeface="Calibri Light"/>
                <a:cs typeface="Calibri Light"/>
              </a:rPr>
              <a:t> temporal del </a:t>
            </a:r>
            <a:r>
              <a:rPr sz="1400" dirty="0" err="1">
                <a:solidFill>
                  <a:srgbClr val="333333"/>
                </a:solidFill>
                <a:latin typeface="Calibri Light"/>
                <a:cs typeface="Calibri Light"/>
              </a:rPr>
              <a:t>modelo</a:t>
            </a:r>
            <a:r>
              <a:rPr sz="1400" dirty="0">
                <a:solidFill>
                  <a:srgbClr val="333333"/>
                </a:solidFill>
                <a:latin typeface="Calibri Light"/>
                <a:cs typeface="Calibri Light"/>
              </a:rPr>
              <a:t>. </a:t>
            </a:r>
            <a:r>
              <a:rPr sz="1400" dirty="0" err="1">
                <a:solidFill>
                  <a:srgbClr val="333333"/>
                </a:solidFill>
                <a:latin typeface="Calibri Light"/>
                <a:cs typeface="Calibri Light"/>
              </a:rPr>
              <a:t>Desventaja</a:t>
            </a:r>
            <a:r>
              <a:rPr sz="1400" dirty="0">
                <a:solidFill>
                  <a:srgbClr val="333333"/>
                </a:solidFill>
                <a:latin typeface="Calibri Light"/>
                <a:cs typeface="Calibri Light"/>
              </a:rPr>
              <a:t>: 14× </a:t>
            </a:r>
            <a:r>
              <a:rPr sz="1400" dirty="0" err="1">
                <a:solidFill>
                  <a:srgbClr val="333333"/>
                </a:solidFill>
                <a:latin typeface="Calibri Light"/>
                <a:cs typeface="Calibri Light"/>
              </a:rPr>
              <a:t>más</a:t>
            </a:r>
            <a:r>
              <a:rPr sz="1400" dirty="0">
                <a:solidFill>
                  <a:srgbClr val="333333"/>
                </a:solidFill>
                <a:latin typeface="Calibri Light"/>
                <a:cs typeface="Calibri Light"/>
              </a:rPr>
              <a:t> </a:t>
            </a:r>
            <a:r>
              <a:rPr sz="1400" dirty="0" err="1">
                <a:solidFill>
                  <a:srgbClr val="333333"/>
                </a:solidFill>
                <a:latin typeface="Calibri Light"/>
                <a:cs typeface="Calibri Light"/>
              </a:rPr>
              <a:t>tiempo</a:t>
            </a:r>
            <a:r>
              <a:rPr sz="1400" dirty="0">
                <a:solidFill>
                  <a:srgbClr val="333333"/>
                </a:solidFill>
                <a:latin typeface="Calibri Light"/>
                <a:cs typeface="Calibri Light"/>
              </a:rPr>
              <a:t> de </a:t>
            </a:r>
            <a:r>
              <a:rPr sz="1400" dirty="0" err="1">
                <a:solidFill>
                  <a:srgbClr val="333333"/>
                </a:solidFill>
                <a:latin typeface="Calibri Light"/>
                <a:cs typeface="Calibri Light"/>
              </a:rPr>
              <a:t>entrenamiento</a:t>
            </a:r>
            <a:r>
              <a:rPr sz="1400" dirty="0">
                <a:solidFill>
                  <a:srgbClr val="333333"/>
                </a:solidFill>
                <a:latin typeface="Calibri Light"/>
                <a:cs typeface="Calibri Light"/>
              </a:rPr>
              <a:t>.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400" b="1" dirty="0">
                <a:solidFill>
                  <a:srgbClr val="333333"/>
                </a:solidFill>
                <a:latin typeface="Calibri Light"/>
                <a:cs typeface="Calibri Light"/>
              </a:rPr>
              <a:t>Línea </a:t>
            </a:r>
            <a:r>
              <a:rPr sz="1400" b="1" dirty="0" err="1">
                <a:solidFill>
                  <a:srgbClr val="333333"/>
                </a:solidFill>
                <a:latin typeface="Calibri Light"/>
                <a:cs typeface="Calibri Light"/>
              </a:rPr>
              <a:t>futura</a:t>
            </a:r>
            <a:r>
              <a:rPr sz="1400" b="1" dirty="0">
                <a:solidFill>
                  <a:srgbClr val="333333"/>
                </a:solidFill>
                <a:latin typeface="Calibri Light"/>
                <a:cs typeface="Calibri Light"/>
              </a:rPr>
              <a:t>: </a:t>
            </a:r>
            <a:r>
              <a:rPr sz="1400" dirty="0" err="1">
                <a:solidFill>
                  <a:srgbClr val="333333"/>
                </a:solidFill>
                <a:latin typeface="Calibri Light"/>
                <a:cs typeface="Calibri Light"/>
              </a:rPr>
              <a:t>implementar</a:t>
            </a:r>
            <a:r>
              <a:rPr sz="1400" dirty="0">
                <a:solidFill>
                  <a:srgbClr val="333333"/>
                </a:solidFill>
                <a:latin typeface="Calibri Light"/>
                <a:cs typeface="Calibri Light"/>
              </a:rPr>
              <a:t> rolling window </a:t>
            </a:r>
            <a:r>
              <a:rPr sz="1400" dirty="0" err="1">
                <a:solidFill>
                  <a:srgbClr val="333333"/>
                </a:solidFill>
                <a:latin typeface="Calibri Light"/>
                <a:cs typeface="Calibri Light"/>
              </a:rPr>
              <a:t>completo</a:t>
            </a:r>
            <a:r>
              <a:rPr sz="1400" dirty="0">
                <a:solidFill>
                  <a:srgbClr val="333333"/>
                </a:solidFill>
                <a:latin typeface="Calibri Light"/>
                <a:cs typeface="Calibri Light"/>
              </a:rPr>
              <a:t> para </a:t>
            </a:r>
            <a:r>
              <a:rPr sz="1400" dirty="0" err="1">
                <a:solidFill>
                  <a:srgbClr val="333333"/>
                </a:solidFill>
                <a:latin typeface="Calibri Light"/>
                <a:cs typeface="Calibri Light"/>
              </a:rPr>
              <a:t>validar</a:t>
            </a:r>
            <a:r>
              <a:rPr sz="1400" dirty="0">
                <a:solidFill>
                  <a:srgbClr val="333333"/>
                </a:solidFill>
                <a:latin typeface="Calibri Light"/>
                <a:cs typeface="Calibri Light"/>
              </a:rPr>
              <a:t> </a:t>
            </a:r>
            <a:r>
              <a:rPr sz="1400" dirty="0" err="1">
                <a:solidFill>
                  <a:srgbClr val="333333"/>
                </a:solidFill>
                <a:latin typeface="Calibri Light"/>
                <a:cs typeface="Calibri Light"/>
              </a:rPr>
              <a:t>robustez</a:t>
            </a:r>
            <a:r>
              <a:rPr sz="1400" dirty="0">
                <a:solidFill>
                  <a:srgbClr val="333333"/>
                </a:solidFill>
                <a:latin typeface="Calibri Light"/>
                <a:cs typeface="Calibri Light"/>
              </a:rPr>
              <a:t> temporal del </a:t>
            </a:r>
            <a:r>
              <a:rPr sz="1400" dirty="0" err="1">
                <a:solidFill>
                  <a:srgbClr val="333333"/>
                </a:solidFill>
                <a:latin typeface="Calibri Light"/>
                <a:cs typeface="Calibri Light"/>
              </a:rPr>
              <a:t>modelo</a:t>
            </a:r>
            <a:r>
              <a:rPr sz="1400" dirty="0">
                <a:solidFill>
                  <a:srgbClr val="333333"/>
                </a:solidFill>
                <a:latin typeface="Calibri Light"/>
                <a:cs typeface="Calibri Light"/>
              </a:rPr>
              <a:t> </a:t>
            </a:r>
            <a:r>
              <a:rPr sz="1400" dirty="0" err="1">
                <a:solidFill>
                  <a:srgbClr val="333333"/>
                </a:solidFill>
                <a:latin typeface="Calibri Light"/>
                <a:cs typeface="Calibri Light"/>
              </a:rPr>
              <a:t>en</a:t>
            </a:r>
            <a:r>
              <a:rPr sz="1400" dirty="0">
                <a:solidFill>
                  <a:srgbClr val="333333"/>
                </a:solidFill>
                <a:latin typeface="Calibri Light"/>
                <a:cs typeface="Calibri Light"/>
              </a:rPr>
              <a:t> S&amp;P 500.</a:t>
            </a:r>
          </a:p>
        </p:txBody>
      </p:sp>
      <p:pic>
        <p:nvPicPr>
          <p:cNvPr id="4" name="Picture 3" descr="paper_rolling_wind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6920" y="2385893"/>
            <a:ext cx="4069080" cy="273391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4D94125-5124-8D49-A058-26A627674700}"/>
              </a:ext>
            </a:extLst>
          </p:cNvPr>
          <p:cNvSpPr/>
          <p:nvPr/>
        </p:nvSpPr>
        <p:spPr>
          <a:xfrm>
            <a:off x="927100" y="1117600"/>
            <a:ext cx="7289800" cy="25400"/>
          </a:xfrm>
          <a:prstGeom prst="rect">
            <a:avLst/>
          </a:prstGeom>
          <a:solidFill>
            <a:srgbClr val="5B9BD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3374102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Adaptación al S&amp;P 500</a:t>
            </a:r>
          </a:p>
        </p:txBody>
      </p:sp>
      <p:pic>
        <p:nvPicPr>
          <p:cNvPr id="4" name="Graphic 4" descr="Adaptation section ic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0" y="2032000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5183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4E79"/>
                </a:solidFill>
              </a:rPr>
              <a:t>Diferencias Clave: China vs S&amp;P 500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>
              <a:spcBef>
                <a:spcPts val="400"/>
              </a:spcBef>
              <a:spcAft>
                <a:spcPts val="300"/>
              </a:spcAft>
              <a:buNone/>
            </a:pPr>
            <a:r>
              <a:rPr sz="1400" b="1" dirty="0">
                <a:solidFill>
                  <a:srgbClr val="333333"/>
                </a:solidFill>
              </a:rPr>
              <a:t>Mercado original (China): </a:t>
            </a:r>
            <a:r>
              <a:rPr sz="1400" dirty="0">
                <a:solidFill>
                  <a:srgbClr val="333333"/>
                </a:solidFill>
              </a:rPr>
              <a:t>CSI 300/500, </a:t>
            </a:r>
            <a:r>
              <a:rPr sz="1400" dirty="0" err="1">
                <a:solidFill>
                  <a:srgbClr val="333333"/>
                </a:solidFill>
              </a:rPr>
              <a:t>alta</a:t>
            </a:r>
            <a:r>
              <a:rPr sz="1400" dirty="0">
                <a:solidFill>
                  <a:srgbClr val="333333"/>
                </a:solidFill>
              </a:rPr>
              <a:t> </a:t>
            </a:r>
            <a:r>
              <a:rPr sz="1400" dirty="0" err="1">
                <a:solidFill>
                  <a:srgbClr val="333333"/>
                </a:solidFill>
              </a:rPr>
              <a:t>participación</a:t>
            </a:r>
            <a:r>
              <a:rPr sz="1400" dirty="0">
                <a:solidFill>
                  <a:srgbClr val="333333"/>
                </a:solidFill>
              </a:rPr>
              <a:t> retail, mayor </a:t>
            </a:r>
            <a:r>
              <a:rPr sz="1400" dirty="0" err="1">
                <a:solidFill>
                  <a:srgbClr val="333333"/>
                </a:solidFill>
              </a:rPr>
              <a:t>ineficiencia</a:t>
            </a:r>
            <a:r>
              <a:rPr sz="1400" dirty="0">
                <a:solidFill>
                  <a:srgbClr val="333333"/>
                </a:solidFill>
              </a:rPr>
              <a:t> → </a:t>
            </a:r>
            <a:r>
              <a:rPr sz="1400" dirty="0" err="1">
                <a:solidFill>
                  <a:srgbClr val="333333"/>
                </a:solidFill>
              </a:rPr>
              <a:t>más</a:t>
            </a:r>
            <a:r>
              <a:rPr sz="1400" dirty="0">
                <a:solidFill>
                  <a:srgbClr val="333333"/>
                </a:solidFill>
              </a:rPr>
              <a:t> alpha disponible.</a:t>
            </a:r>
          </a:p>
          <a:p>
            <a:pPr>
              <a:spcBef>
                <a:spcPts val="400"/>
              </a:spcBef>
              <a:spcAft>
                <a:spcPts val="300"/>
              </a:spcAft>
              <a:buNone/>
            </a:pPr>
            <a:r>
              <a:rPr sz="1400" b="1" dirty="0">
                <a:solidFill>
                  <a:srgbClr val="333333"/>
                </a:solidFill>
              </a:rPr>
              <a:t>Mercado </a:t>
            </a:r>
            <a:r>
              <a:rPr sz="1400" b="1" dirty="0" err="1">
                <a:solidFill>
                  <a:srgbClr val="333333"/>
                </a:solidFill>
              </a:rPr>
              <a:t>objetivo</a:t>
            </a:r>
            <a:r>
              <a:rPr sz="1400" b="1" dirty="0">
                <a:solidFill>
                  <a:srgbClr val="333333"/>
                </a:solidFill>
              </a:rPr>
              <a:t> (EEUU): </a:t>
            </a:r>
            <a:r>
              <a:rPr sz="1400" dirty="0">
                <a:solidFill>
                  <a:srgbClr val="333333"/>
                </a:solidFill>
              </a:rPr>
              <a:t>S&amp;P 500, </a:t>
            </a:r>
            <a:r>
              <a:rPr sz="1400" dirty="0" err="1">
                <a:solidFill>
                  <a:srgbClr val="333333"/>
                </a:solidFill>
              </a:rPr>
              <a:t>dominado</a:t>
            </a:r>
            <a:r>
              <a:rPr sz="1400" dirty="0">
                <a:solidFill>
                  <a:srgbClr val="333333"/>
                </a:solidFill>
              </a:rPr>
              <a:t> </a:t>
            </a:r>
            <a:r>
              <a:rPr sz="1400" dirty="0" err="1">
                <a:solidFill>
                  <a:srgbClr val="333333"/>
                </a:solidFill>
              </a:rPr>
              <a:t>por</a:t>
            </a:r>
            <a:r>
              <a:rPr sz="1400" dirty="0">
                <a:solidFill>
                  <a:srgbClr val="333333"/>
                </a:solidFill>
              </a:rPr>
              <a:t> </a:t>
            </a:r>
            <a:r>
              <a:rPr sz="1400" dirty="0" err="1">
                <a:solidFill>
                  <a:srgbClr val="333333"/>
                </a:solidFill>
              </a:rPr>
              <a:t>institucionales</a:t>
            </a:r>
            <a:r>
              <a:rPr sz="1400" dirty="0">
                <a:solidFill>
                  <a:srgbClr val="333333"/>
                </a:solidFill>
              </a:rPr>
              <a:t> y HFT → mercado </a:t>
            </a:r>
            <a:r>
              <a:rPr sz="1400" dirty="0" err="1">
                <a:solidFill>
                  <a:srgbClr val="333333"/>
                </a:solidFill>
              </a:rPr>
              <a:t>más</a:t>
            </a:r>
            <a:r>
              <a:rPr sz="1400" dirty="0">
                <a:solidFill>
                  <a:srgbClr val="333333"/>
                </a:solidFill>
              </a:rPr>
              <a:t> </a:t>
            </a:r>
            <a:r>
              <a:rPr sz="1400" dirty="0" err="1">
                <a:solidFill>
                  <a:srgbClr val="333333"/>
                </a:solidFill>
              </a:rPr>
              <a:t>eficiente</a:t>
            </a:r>
            <a:r>
              <a:rPr sz="1400" dirty="0">
                <a:solidFill>
                  <a:srgbClr val="333333"/>
                </a:solidFill>
              </a:rPr>
              <a:t>, alpha </a:t>
            </a:r>
            <a:r>
              <a:rPr sz="1400" dirty="0" err="1">
                <a:solidFill>
                  <a:srgbClr val="333333"/>
                </a:solidFill>
              </a:rPr>
              <a:t>más</a:t>
            </a:r>
            <a:r>
              <a:rPr sz="1400" dirty="0">
                <a:solidFill>
                  <a:srgbClr val="333333"/>
                </a:solidFill>
              </a:rPr>
              <a:t> </a:t>
            </a:r>
            <a:r>
              <a:rPr sz="1400" dirty="0" err="1">
                <a:solidFill>
                  <a:srgbClr val="333333"/>
                </a:solidFill>
              </a:rPr>
              <a:t>difícil</a:t>
            </a:r>
            <a:r>
              <a:rPr sz="1400" dirty="0">
                <a:solidFill>
                  <a:srgbClr val="333333"/>
                </a:solidFill>
              </a:rPr>
              <a:t>.</a:t>
            </a:r>
          </a:p>
          <a:p>
            <a:pPr>
              <a:spcBef>
                <a:spcPts val="400"/>
              </a:spcBef>
              <a:spcAft>
                <a:spcPts val="300"/>
              </a:spcAft>
              <a:buNone/>
            </a:pPr>
            <a:r>
              <a:rPr sz="1400" b="1" dirty="0" err="1">
                <a:solidFill>
                  <a:srgbClr val="333333"/>
                </a:solidFill>
              </a:rPr>
              <a:t>Volatilidad</a:t>
            </a:r>
            <a:r>
              <a:rPr sz="1400" b="1" dirty="0">
                <a:solidFill>
                  <a:srgbClr val="333333"/>
                </a:solidFill>
              </a:rPr>
              <a:t>: </a:t>
            </a:r>
            <a:r>
              <a:rPr sz="1400" dirty="0">
                <a:solidFill>
                  <a:srgbClr val="333333"/>
                </a:solidFill>
              </a:rPr>
              <a:t>S&amp;P 500 </a:t>
            </a:r>
            <a:r>
              <a:rPr sz="1400" dirty="0" err="1">
                <a:solidFill>
                  <a:srgbClr val="333333"/>
                </a:solidFill>
              </a:rPr>
              <a:t>muestra</a:t>
            </a:r>
            <a:r>
              <a:rPr sz="1400" dirty="0">
                <a:solidFill>
                  <a:srgbClr val="333333"/>
                </a:solidFill>
              </a:rPr>
              <a:t> </a:t>
            </a:r>
            <a:r>
              <a:rPr sz="1400" dirty="0" err="1">
                <a:solidFill>
                  <a:srgbClr val="333333"/>
                </a:solidFill>
              </a:rPr>
              <a:t>menor</a:t>
            </a:r>
            <a:r>
              <a:rPr sz="1400" dirty="0">
                <a:solidFill>
                  <a:srgbClr val="333333"/>
                </a:solidFill>
              </a:rPr>
              <a:t> </a:t>
            </a:r>
            <a:r>
              <a:rPr sz="1400" dirty="0" err="1">
                <a:solidFill>
                  <a:srgbClr val="333333"/>
                </a:solidFill>
              </a:rPr>
              <a:t>volatilidad</a:t>
            </a:r>
            <a:r>
              <a:rPr sz="1400" dirty="0">
                <a:solidFill>
                  <a:srgbClr val="333333"/>
                </a:solidFill>
              </a:rPr>
              <a:t> </a:t>
            </a:r>
            <a:r>
              <a:rPr sz="1400" dirty="0" err="1">
                <a:solidFill>
                  <a:srgbClr val="333333"/>
                </a:solidFill>
              </a:rPr>
              <a:t>intradía</a:t>
            </a:r>
            <a:r>
              <a:rPr sz="1400" dirty="0">
                <a:solidFill>
                  <a:srgbClr val="333333"/>
                </a:solidFill>
              </a:rPr>
              <a:t> </a:t>
            </a:r>
            <a:r>
              <a:rPr sz="1400" dirty="0" err="1">
                <a:solidFill>
                  <a:srgbClr val="333333"/>
                </a:solidFill>
              </a:rPr>
              <a:t>pero</a:t>
            </a:r>
            <a:r>
              <a:rPr sz="1400" dirty="0">
                <a:solidFill>
                  <a:srgbClr val="333333"/>
                </a:solidFill>
              </a:rPr>
              <a:t> </a:t>
            </a:r>
            <a:r>
              <a:rPr sz="1400" dirty="0" err="1">
                <a:solidFill>
                  <a:srgbClr val="333333"/>
                </a:solidFill>
              </a:rPr>
              <a:t>eventos</a:t>
            </a:r>
            <a:r>
              <a:rPr sz="1400" dirty="0">
                <a:solidFill>
                  <a:srgbClr val="333333"/>
                </a:solidFill>
              </a:rPr>
              <a:t> macro </a:t>
            </a:r>
            <a:r>
              <a:rPr sz="1400" dirty="0" err="1">
                <a:solidFill>
                  <a:srgbClr val="333333"/>
                </a:solidFill>
              </a:rPr>
              <a:t>más</a:t>
            </a:r>
            <a:r>
              <a:rPr sz="1400" dirty="0">
                <a:solidFill>
                  <a:srgbClr val="333333"/>
                </a:solidFill>
              </a:rPr>
              <a:t> </a:t>
            </a:r>
            <a:r>
              <a:rPr sz="1400" dirty="0" err="1">
                <a:solidFill>
                  <a:srgbClr val="333333"/>
                </a:solidFill>
              </a:rPr>
              <a:t>globales</a:t>
            </a:r>
            <a:r>
              <a:rPr sz="1400" dirty="0">
                <a:solidFill>
                  <a:srgbClr val="333333"/>
                </a:solidFill>
              </a:rPr>
              <a:t>.</a:t>
            </a:r>
          </a:p>
          <a:p>
            <a:pPr>
              <a:spcBef>
                <a:spcPts val="400"/>
              </a:spcBef>
              <a:spcAft>
                <a:spcPts val="300"/>
              </a:spcAft>
              <a:buNone/>
            </a:pPr>
            <a:r>
              <a:rPr sz="1400" b="1" dirty="0">
                <a:solidFill>
                  <a:srgbClr val="333333"/>
                </a:solidFill>
              </a:rPr>
              <a:t>Datos: </a:t>
            </a:r>
            <a:r>
              <a:rPr sz="1400" dirty="0">
                <a:solidFill>
                  <a:srgbClr val="333333"/>
                </a:solidFill>
              </a:rPr>
              <a:t>China </a:t>
            </a:r>
            <a:r>
              <a:rPr sz="1400" dirty="0" err="1">
                <a:solidFill>
                  <a:srgbClr val="333333"/>
                </a:solidFill>
              </a:rPr>
              <a:t>usaba</a:t>
            </a:r>
            <a:r>
              <a:rPr sz="1400" dirty="0">
                <a:solidFill>
                  <a:srgbClr val="333333"/>
                </a:solidFill>
              </a:rPr>
              <a:t> </a:t>
            </a:r>
            <a:r>
              <a:rPr sz="1400" dirty="0" err="1">
                <a:solidFill>
                  <a:srgbClr val="333333"/>
                </a:solidFill>
              </a:rPr>
              <a:t>Qlib</a:t>
            </a:r>
            <a:r>
              <a:rPr sz="1400" dirty="0">
                <a:solidFill>
                  <a:srgbClr val="333333"/>
                </a:solidFill>
              </a:rPr>
              <a:t>/</a:t>
            </a:r>
            <a:r>
              <a:rPr sz="1400" dirty="0" err="1">
                <a:solidFill>
                  <a:srgbClr val="333333"/>
                </a:solidFill>
              </a:rPr>
              <a:t>RiceQuant</a:t>
            </a:r>
            <a:r>
              <a:rPr sz="1400" dirty="0">
                <a:solidFill>
                  <a:srgbClr val="333333"/>
                </a:solidFill>
              </a:rPr>
              <a:t>; </a:t>
            </a:r>
            <a:r>
              <a:rPr sz="1400" dirty="0" err="1">
                <a:solidFill>
                  <a:srgbClr val="333333"/>
                </a:solidFill>
              </a:rPr>
              <a:t>nosotros</a:t>
            </a:r>
            <a:r>
              <a:rPr sz="1400" dirty="0">
                <a:solidFill>
                  <a:srgbClr val="333333"/>
                </a:solidFill>
              </a:rPr>
              <a:t> </a:t>
            </a:r>
            <a:r>
              <a:rPr sz="1400" dirty="0" err="1">
                <a:solidFill>
                  <a:srgbClr val="333333"/>
                </a:solidFill>
              </a:rPr>
              <a:t>yfinance</a:t>
            </a:r>
            <a:r>
              <a:rPr sz="1400" dirty="0">
                <a:solidFill>
                  <a:srgbClr val="333333"/>
                </a:solidFill>
              </a:rPr>
              <a:t> (OHLCV </a:t>
            </a:r>
            <a:r>
              <a:rPr sz="1400" dirty="0" err="1">
                <a:solidFill>
                  <a:srgbClr val="333333"/>
                </a:solidFill>
              </a:rPr>
              <a:t>diario</a:t>
            </a:r>
            <a:r>
              <a:rPr sz="1400" dirty="0">
                <a:solidFill>
                  <a:srgbClr val="333333"/>
                </a:solidFill>
              </a:rPr>
              <a:t>, sin </a:t>
            </a:r>
            <a:r>
              <a:rPr sz="1400" dirty="0" err="1">
                <a:solidFill>
                  <a:srgbClr val="333333"/>
                </a:solidFill>
              </a:rPr>
              <a:t>datos</a:t>
            </a:r>
            <a:r>
              <a:rPr sz="1400" dirty="0">
                <a:solidFill>
                  <a:srgbClr val="333333"/>
                </a:solidFill>
              </a:rPr>
              <a:t> tick para VWAP real).</a:t>
            </a:r>
          </a:p>
          <a:p>
            <a:pPr>
              <a:spcBef>
                <a:spcPts val="400"/>
              </a:spcBef>
              <a:spcAft>
                <a:spcPts val="300"/>
              </a:spcAft>
              <a:buNone/>
            </a:pPr>
            <a:r>
              <a:rPr sz="1400" b="1" dirty="0" err="1">
                <a:solidFill>
                  <a:srgbClr val="333333"/>
                </a:solidFill>
              </a:rPr>
              <a:t>Estructura</a:t>
            </a:r>
            <a:r>
              <a:rPr sz="1400" b="1" dirty="0">
                <a:solidFill>
                  <a:srgbClr val="333333"/>
                </a:solidFill>
              </a:rPr>
              <a:t> sectorial: </a:t>
            </a:r>
            <a:r>
              <a:rPr sz="1400" dirty="0">
                <a:solidFill>
                  <a:srgbClr val="333333"/>
                </a:solidFill>
              </a:rPr>
              <a:t>S&amp;P 500 </a:t>
            </a:r>
            <a:r>
              <a:rPr sz="1400" dirty="0" err="1">
                <a:solidFill>
                  <a:srgbClr val="333333"/>
                </a:solidFill>
              </a:rPr>
              <a:t>más</a:t>
            </a:r>
            <a:r>
              <a:rPr sz="1400" dirty="0">
                <a:solidFill>
                  <a:srgbClr val="333333"/>
                </a:solidFill>
              </a:rPr>
              <a:t> </a:t>
            </a:r>
            <a:r>
              <a:rPr sz="1400" dirty="0" err="1">
                <a:solidFill>
                  <a:srgbClr val="333333"/>
                </a:solidFill>
              </a:rPr>
              <a:t>concentrado</a:t>
            </a:r>
            <a:r>
              <a:rPr sz="1400" dirty="0">
                <a:solidFill>
                  <a:srgbClr val="333333"/>
                </a:solidFill>
              </a:rPr>
              <a:t> </a:t>
            </a:r>
            <a:r>
              <a:rPr sz="1400" dirty="0" err="1">
                <a:solidFill>
                  <a:srgbClr val="333333"/>
                </a:solidFill>
              </a:rPr>
              <a:t>en</a:t>
            </a:r>
            <a:r>
              <a:rPr sz="1400" dirty="0">
                <a:solidFill>
                  <a:srgbClr val="333333"/>
                </a:solidFill>
              </a:rPr>
              <a:t> tech (AAPL, MSFT, NVDA) </a:t>
            </a:r>
            <a:r>
              <a:rPr sz="1400" dirty="0" err="1">
                <a:solidFill>
                  <a:srgbClr val="333333"/>
                </a:solidFill>
              </a:rPr>
              <a:t>que</a:t>
            </a:r>
            <a:r>
              <a:rPr sz="1400" dirty="0">
                <a:solidFill>
                  <a:srgbClr val="333333"/>
                </a:solidFill>
              </a:rPr>
              <a:t> CSI.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CB5852-B7CC-D546-90E7-6B53E417E105}"/>
              </a:ext>
            </a:extLst>
          </p:cNvPr>
          <p:cNvSpPr/>
          <p:nvPr/>
        </p:nvSpPr>
        <p:spPr>
          <a:xfrm>
            <a:off x="927100" y="1117600"/>
            <a:ext cx="7289800" cy="25400"/>
          </a:xfrm>
          <a:prstGeom prst="rect">
            <a:avLst/>
          </a:prstGeom>
          <a:solidFill>
            <a:srgbClr val="5B9BD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E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19633B-926F-B741-828D-9192502E7918}"/>
              </a:ext>
            </a:extLst>
          </p:cNvPr>
          <p:cNvSpPr/>
          <p:nvPr/>
        </p:nvSpPr>
        <p:spPr>
          <a:xfrm>
            <a:off x="825500" y="1270000"/>
            <a:ext cx="38100" cy="48260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8980558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4E79"/>
                </a:solidFill>
              </a:rPr>
              <a:t>Desafíos en el Pipeline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>
              <a:spcBef>
                <a:spcPts val="4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333333"/>
                </a:solidFill>
              </a:rPr>
              <a:t>Composición dinámica: </a:t>
            </a:r>
            <a:r>
              <a:rPr sz="1400">
                <a:solidFill>
                  <a:srgbClr val="333333"/>
                </a:solidFill>
              </a:rPr>
              <a:t>El S&amp;P 500 cambia (IPOs, delists). Se usa la lista actual → posible sesgo de supervivencia.</a:t>
            </a:r>
          </a:p>
          <a:p>
            <a:pPr>
              <a:spcBef>
                <a:spcPts val="4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333333"/>
                </a:solidFill>
              </a:rPr>
              <a:t>Datos faltantes: </a:t>
            </a:r>
            <a:r>
              <a:rPr sz="1400">
                <a:solidFill>
                  <a:srgbClr val="333333"/>
                </a:solidFill>
              </a:rPr>
              <a:t>Tickers con &lt;80% datos eliminados; gaps rellenados con forward-fill + zero-fill.</a:t>
            </a:r>
          </a:p>
          <a:p>
            <a:pPr>
              <a:spcBef>
                <a:spcPts val="4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333333"/>
                </a:solidFill>
              </a:rPr>
              <a:t>VWAP aproximado: </a:t>
            </a:r>
            <a:r>
              <a:rPr sz="1400">
                <a:solidFill>
                  <a:srgbClr val="333333"/>
                </a:solidFill>
              </a:rPr>
              <a:t>Sin datos tick, VWAP=(H+L+C)/3 es una aproximación vs. el VWAP ponderado por volumen real.</a:t>
            </a:r>
          </a:p>
          <a:p>
            <a:pPr>
              <a:spcBef>
                <a:spcPts val="4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333333"/>
                </a:solidFill>
              </a:rPr>
              <a:t>Struc2Vec: </a:t>
            </a:r>
            <a:r>
              <a:rPr sz="1400">
                <a:solidFill>
                  <a:srgbClr val="333333"/>
                </a:solidFill>
              </a:rPr>
              <a:t>Grafo de correlaciones con umbral |corr|&gt;0.3 sobre todo el periodo → posible data leakage temporal.</a:t>
            </a:r>
          </a:p>
          <a:p>
            <a:pPr>
              <a:spcBef>
                <a:spcPts val="4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333333"/>
                </a:solidFill>
              </a:rPr>
              <a:t>Alpha360 z-score: </a:t>
            </a:r>
            <a:r>
              <a:rPr sz="1400">
                <a:solidFill>
                  <a:srgbClr val="333333"/>
                </a:solidFill>
              </a:rPr>
              <a:t>Días con std=0 (festivos parciales, baja actividad) generan NaN → reemplazados por 0.</a:t>
            </a:r>
          </a:p>
          <a:p>
            <a:pPr>
              <a:spcBef>
                <a:spcPts val="4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333333"/>
                </a:solidFill>
              </a:rPr>
              <a:t>Rate limiting: </a:t>
            </a:r>
            <a:r>
              <a:rPr sz="1400">
                <a:solidFill>
                  <a:srgbClr val="333333"/>
                </a:solidFill>
              </a:rPr>
              <a:t>yfinance requiere batching (80 tickers/chunk) y delays para evitar bloqueos.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79F7C8-7495-E240-9777-F9431C488A3A}"/>
              </a:ext>
            </a:extLst>
          </p:cNvPr>
          <p:cNvSpPr/>
          <p:nvPr/>
        </p:nvSpPr>
        <p:spPr>
          <a:xfrm>
            <a:off x="927100" y="1117600"/>
            <a:ext cx="7289800" cy="25400"/>
          </a:xfrm>
          <a:prstGeom prst="rect">
            <a:avLst/>
          </a:prstGeom>
          <a:solidFill>
            <a:srgbClr val="5B9BD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E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1E8648-8E50-5142-BC05-BA61DB37A567}"/>
              </a:ext>
            </a:extLst>
          </p:cNvPr>
          <p:cNvSpPr/>
          <p:nvPr/>
        </p:nvSpPr>
        <p:spPr>
          <a:xfrm>
            <a:off x="825500" y="1270000"/>
            <a:ext cx="38100" cy="4826000"/>
          </a:xfrm>
          <a:prstGeom prst="rect">
            <a:avLst/>
          </a:prstGeom>
          <a:solidFill>
            <a:srgbClr val="70AD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9269826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Resultados del Backtesting</a:t>
            </a:r>
          </a:p>
        </p:txBody>
      </p:sp>
      <p:pic>
        <p:nvPicPr>
          <p:cNvPr id="4" name="Graphic 4" descr="Backtesting results section ic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0" y="2032000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8635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4E79"/>
                </a:solidFill>
              </a:rPr>
              <a:t>Curva de Equity: Cartera vs SPY</a:t>
            </a:r>
          </a:p>
        </p:txBody>
      </p:sp>
      <p:pic>
        <p:nvPicPr>
          <p:cNvPr id="3" name="Picture 2" descr="equity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679914"/>
            <a:ext cx="8128000" cy="410777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13FAAB5-C8F1-6B45-958F-17463EF86E93}"/>
              </a:ext>
            </a:extLst>
          </p:cNvPr>
          <p:cNvSpPr/>
          <p:nvPr/>
        </p:nvSpPr>
        <p:spPr>
          <a:xfrm>
            <a:off x="927100" y="1117600"/>
            <a:ext cx="7289800" cy="25400"/>
          </a:xfrm>
          <a:prstGeom prst="rect">
            <a:avLst/>
          </a:prstGeom>
          <a:solidFill>
            <a:srgbClr val="5B9BD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E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4E79"/>
                </a:solidFill>
              </a:rPr>
              <a:t>Métricas del Backtesting (236 días test)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DA50C6B-5B02-7CFE-3D56-AF4F86C3426C}"/>
              </a:ext>
            </a:extLst>
          </p:cNvPr>
          <p:cNvGrpSpPr/>
          <p:nvPr/>
        </p:nvGrpSpPr>
        <p:grpSpPr>
          <a:xfrm>
            <a:off x="787400" y="1955800"/>
            <a:ext cx="7569200" cy="2946400"/>
            <a:chOff x="787400" y="1270000"/>
            <a:chExt cx="7569200" cy="2946400"/>
          </a:xfrm>
        </p:grpSpPr>
        <p:sp>
          <p:nvSpPr>
            <p:cNvPr id="10" name="KPI Card 10"/>
            <p:cNvSpPr/>
            <p:nvPr/>
          </p:nvSpPr>
          <p:spPr>
            <a:xfrm>
              <a:off x="787400" y="1270000"/>
              <a:ext cx="1778000" cy="1397000"/>
            </a:xfrm>
            <a:prstGeom prst="roundRect">
              <a:avLst>
                <a:gd name="adj" fmla="val 8000"/>
              </a:avLst>
            </a:prstGeom>
            <a:solidFill>
              <a:srgbClr val="F5F5F5"/>
            </a:solidFill>
            <a:ln w="0">
              <a:noFill/>
            </a:ln>
          </p:spPr>
          <p:txBody>
            <a:bodyPr wrap="square" lIns="54000" tIns="72000" rIns="54000" bIns="36000" anchor="ctr" anchorCtr="0"/>
            <a:lstStyle/>
            <a:p>
              <a:pPr algn="ctr"/>
              <a:r>
                <a:rPr lang="es-ES" sz="2200" b="1" dirty="0">
                  <a:solidFill>
                    <a:srgbClr val="E74C3C"/>
                  </a:solidFill>
                  <a:latin typeface="Calibri Light"/>
                </a:rPr>
                <a:t>-9.91%</a:t>
              </a:r>
            </a:p>
            <a:p>
              <a:pPr algn="ctr">
                <a:spcBef>
                  <a:spcPts val="200"/>
                </a:spcBef>
              </a:pPr>
              <a:r>
                <a:rPr lang="es-ES" sz="1000" dirty="0">
                  <a:solidFill>
                    <a:srgbClr val="666666"/>
                  </a:solidFill>
                  <a:latin typeface="Calibri Light"/>
                </a:rPr>
                <a:t>Retorno Total</a:t>
              </a:r>
            </a:p>
          </p:txBody>
        </p:sp>
        <p:sp>
          <p:nvSpPr>
            <p:cNvPr id="12" name="Bar 12"/>
            <p:cNvSpPr/>
            <p:nvPr/>
          </p:nvSpPr>
          <p:spPr>
            <a:xfrm>
              <a:off x="838200" y="1270000"/>
              <a:ext cx="1676400" cy="38100"/>
            </a:xfrm>
            <a:prstGeom prst="roundRect">
              <a:avLst>
                <a:gd name="adj" fmla="val 50000"/>
              </a:avLst>
            </a:prstGeom>
            <a:solidFill>
              <a:srgbClr val="E74C3C"/>
            </a:solidFill>
            <a:ln w="0"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3" name="KPI Card 13"/>
            <p:cNvSpPr/>
            <p:nvPr/>
          </p:nvSpPr>
          <p:spPr>
            <a:xfrm>
              <a:off x="2717800" y="1270000"/>
              <a:ext cx="1778000" cy="1397000"/>
            </a:xfrm>
            <a:prstGeom prst="roundRect">
              <a:avLst>
                <a:gd name="adj" fmla="val 8000"/>
              </a:avLst>
            </a:prstGeom>
            <a:solidFill>
              <a:srgbClr val="F5F5F5"/>
            </a:solidFill>
            <a:ln w="0">
              <a:noFill/>
            </a:ln>
          </p:spPr>
          <p:txBody>
            <a:bodyPr wrap="square" lIns="54000" tIns="72000" rIns="54000" bIns="36000" anchor="ctr" anchorCtr="0"/>
            <a:lstStyle/>
            <a:p>
              <a:pPr algn="ctr"/>
              <a:r>
                <a:rPr lang="es-ES" sz="2200" b="1" dirty="0">
                  <a:solidFill>
                    <a:srgbClr val="E67E22"/>
                  </a:solidFill>
                  <a:latin typeface="Calibri Light"/>
                </a:rPr>
                <a:t>-0.238</a:t>
              </a:r>
            </a:p>
            <a:p>
              <a:pPr algn="ctr">
                <a:spcBef>
                  <a:spcPts val="200"/>
                </a:spcBef>
              </a:pPr>
              <a:r>
                <a:rPr lang="es-ES" sz="1000" dirty="0">
                  <a:solidFill>
                    <a:srgbClr val="666666"/>
                  </a:solidFill>
                  <a:latin typeface="Calibri Light"/>
                </a:rPr>
                <a:t>Sharpe Ratio</a:t>
              </a:r>
            </a:p>
          </p:txBody>
        </p:sp>
        <p:sp>
          <p:nvSpPr>
            <p:cNvPr id="15" name="Bar 15"/>
            <p:cNvSpPr/>
            <p:nvPr/>
          </p:nvSpPr>
          <p:spPr>
            <a:xfrm>
              <a:off x="2768600" y="1270000"/>
              <a:ext cx="1676400" cy="38100"/>
            </a:xfrm>
            <a:prstGeom prst="roundRect">
              <a:avLst>
                <a:gd name="adj" fmla="val 50000"/>
              </a:avLst>
            </a:prstGeom>
            <a:solidFill>
              <a:srgbClr val="E67E22"/>
            </a:solidFill>
            <a:ln w="0"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6" name="KPI Card 16"/>
            <p:cNvSpPr/>
            <p:nvPr/>
          </p:nvSpPr>
          <p:spPr>
            <a:xfrm>
              <a:off x="4648200" y="1270000"/>
              <a:ext cx="1778000" cy="1397000"/>
            </a:xfrm>
            <a:prstGeom prst="roundRect">
              <a:avLst>
                <a:gd name="adj" fmla="val 8000"/>
              </a:avLst>
            </a:prstGeom>
            <a:solidFill>
              <a:srgbClr val="F5F5F5"/>
            </a:solidFill>
            <a:ln w="0">
              <a:noFill/>
            </a:ln>
          </p:spPr>
          <p:txBody>
            <a:bodyPr wrap="square" lIns="54000" tIns="72000" rIns="54000" bIns="36000" anchor="ctr" anchorCtr="0"/>
            <a:lstStyle/>
            <a:p>
              <a:pPr algn="ctr"/>
              <a:r>
                <a:rPr lang="es-ES" sz="2200" b="1" dirty="0">
                  <a:solidFill>
                    <a:srgbClr val="E74C3C"/>
                  </a:solidFill>
                  <a:latin typeface="Calibri Light"/>
                </a:rPr>
                <a:t>-18.80%</a:t>
              </a:r>
            </a:p>
            <a:p>
              <a:pPr algn="ctr">
                <a:spcBef>
                  <a:spcPts val="200"/>
                </a:spcBef>
              </a:pPr>
              <a:r>
                <a:rPr lang="es-ES" sz="1000" dirty="0">
                  <a:solidFill>
                    <a:srgbClr val="666666"/>
                  </a:solidFill>
                  <a:latin typeface="Calibri Light"/>
                </a:rPr>
                <a:t>Max Drawdown</a:t>
              </a:r>
            </a:p>
          </p:txBody>
        </p:sp>
        <p:sp>
          <p:nvSpPr>
            <p:cNvPr id="18" name="Bar 18"/>
            <p:cNvSpPr/>
            <p:nvPr/>
          </p:nvSpPr>
          <p:spPr>
            <a:xfrm>
              <a:off x="4699000" y="1270000"/>
              <a:ext cx="1676400" cy="38100"/>
            </a:xfrm>
            <a:prstGeom prst="roundRect">
              <a:avLst>
                <a:gd name="adj" fmla="val 50000"/>
              </a:avLst>
            </a:prstGeom>
            <a:solidFill>
              <a:srgbClr val="E74C3C"/>
            </a:solidFill>
            <a:ln w="0"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9" name="KPI Card 19"/>
            <p:cNvSpPr/>
            <p:nvPr/>
          </p:nvSpPr>
          <p:spPr>
            <a:xfrm>
              <a:off x="6578600" y="1270000"/>
              <a:ext cx="1778000" cy="1397000"/>
            </a:xfrm>
            <a:prstGeom prst="roundRect">
              <a:avLst>
                <a:gd name="adj" fmla="val 8000"/>
              </a:avLst>
            </a:prstGeom>
            <a:solidFill>
              <a:srgbClr val="F5F5F5"/>
            </a:solidFill>
            <a:ln w="0">
              <a:noFill/>
            </a:ln>
          </p:spPr>
          <p:txBody>
            <a:bodyPr wrap="square" lIns="54000" tIns="72000" rIns="54000" bIns="36000" anchor="ctr" anchorCtr="0"/>
            <a:lstStyle/>
            <a:p>
              <a:pPr algn="ctr"/>
              <a:r>
                <a:rPr lang="es-ES" sz="2200" b="1" dirty="0">
                  <a:solidFill>
                    <a:srgbClr val="5B9BD5"/>
                  </a:solidFill>
                  <a:latin typeface="Calibri Light"/>
                </a:rPr>
                <a:t>1.325</a:t>
              </a:r>
            </a:p>
            <a:p>
              <a:pPr algn="ctr">
                <a:spcBef>
                  <a:spcPts val="200"/>
                </a:spcBef>
              </a:pPr>
              <a:r>
                <a:rPr lang="es-ES" sz="1000" dirty="0">
                  <a:solidFill>
                    <a:srgbClr val="666666"/>
                  </a:solidFill>
                  <a:latin typeface="Calibri Light"/>
                </a:rPr>
                <a:t>Beta vs SPY</a:t>
              </a:r>
            </a:p>
          </p:txBody>
        </p:sp>
        <p:sp>
          <p:nvSpPr>
            <p:cNvPr id="21" name="Bar 21"/>
            <p:cNvSpPr/>
            <p:nvPr/>
          </p:nvSpPr>
          <p:spPr>
            <a:xfrm>
              <a:off x="6629400" y="1270000"/>
              <a:ext cx="1676400" cy="38100"/>
            </a:xfrm>
            <a:prstGeom prst="roundRect">
              <a:avLst>
                <a:gd name="adj" fmla="val 50000"/>
              </a:avLst>
            </a:prstGeom>
            <a:solidFill>
              <a:srgbClr val="5B9BD5"/>
            </a:solidFill>
            <a:ln w="0"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2" name="KPI Card 22"/>
            <p:cNvSpPr/>
            <p:nvPr/>
          </p:nvSpPr>
          <p:spPr>
            <a:xfrm>
              <a:off x="1752600" y="2819400"/>
              <a:ext cx="1778000" cy="1397000"/>
            </a:xfrm>
            <a:prstGeom prst="roundRect">
              <a:avLst>
                <a:gd name="adj" fmla="val 8000"/>
              </a:avLst>
            </a:prstGeom>
            <a:solidFill>
              <a:srgbClr val="F5F5F5"/>
            </a:solidFill>
            <a:ln w="0">
              <a:noFill/>
            </a:ln>
          </p:spPr>
          <p:txBody>
            <a:bodyPr wrap="square" lIns="54000" tIns="72000" rIns="54000" bIns="36000" anchor="ctr" anchorCtr="0"/>
            <a:lstStyle/>
            <a:p>
              <a:pPr algn="ctr"/>
              <a:r>
                <a:rPr lang="es-ES" sz="2200" b="1" dirty="0">
                  <a:solidFill>
                    <a:srgbClr val="E74C3C"/>
                  </a:solidFill>
                  <a:latin typeface="Calibri Light"/>
                </a:rPr>
                <a:t>-40.96%</a:t>
              </a:r>
            </a:p>
            <a:p>
              <a:pPr algn="ctr">
                <a:spcBef>
                  <a:spcPts val="200"/>
                </a:spcBef>
              </a:pPr>
              <a:r>
                <a:rPr lang="es-ES" sz="1000" dirty="0">
                  <a:solidFill>
                    <a:srgbClr val="666666"/>
                  </a:solidFill>
                  <a:latin typeface="Calibri Light"/>
                </a:rPr>
                <a:t>Alpha Anualizado</a:t>
              </a:r>
            </a:p>
          </p:txBody>
        </p:sp>
        <p:sp>
          <p:nvSpPr>
            <p:cNvPr id="24" name="Bar 24"/>
            <p:cNvSpPr/>
            <p:nvPr/>
          </p:nvSpPr>
          <p:spPr>
            <a:xfrm>
              <a:off x="1803400" y="2819400"/>
              <a:ext cx="1676400" cy="38100"/>
            </a:xfrm>
            <a:prstGeom prst="roundRect">
              <a:avLst>
                <a:gd name="adj" fmla="val 50000"/>
              </a:avLst>
            </a:prstGeom>
            <a:solidFill>
              <a:srgbClr val="E74C3C"/>
            </a:solidFill>
            <a:ln w="0"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5" name="KPI Card 25"/>
            <p:cNvSpPr/>
            <p:nvPr/>
          </p:nvSpPr>
          <p:spPr>
            <a:xfrm>
              <a:off x="3683000" y="2819400"/>
              <a:ext cx="1778000" cy="1397000"/>
            </a:xfrm>
            <a:prstGeom prst="roundRect">
              <a:avLst>
                <a:gd name="adj" fmla="val 8000"/>
              </a:avLst>
            </a:prstGeom>
            <a:solidFill>
              <a:srgbClr val="F5F5F5"/>
            </a:solidFill>
            <a:ln w="0">
              <a:noFill/>
            </a:ln>
          </p:spPr>
          <p:txBody>
            <a:bodyPr wrap="square" lIns="54000" tIns="72000" rIns="54000" bIns="36000" anchor="ctr" anchorCtr="0"/>
            <a:lstStyle/>
            <a:p>
              <a:pPr algn="ctr"/>
              <a:r>
                <a:rPr lang="es-ES" sz="2200" b="1" dirty="0">
                  <a:solidFill>
                    <a:srgbClr val="E67E22"/>
                  </a:solidFill>
                  <a:latin typeface="Calibri Light"/>
                </a:rPr>
                <a:t>-0.003</a:t>
              </a:r>
            </a:p>
            <a:p>
              <a:pPr algn="ctr">
                <a:spcBef>
                  <a:spcPts val="200"/>
                </a:spcBef>
              </a:pPr>
              <a:r>
                <a:rPr lang="es-ES" sz="1000" dirty="0">
                  <a:solidFill>
                    <a:srgbClr val="666666"/>
                  </a:solidFill>
                  <a:latin typeface="Calibri Light"/>
                </a:rPr>
                <a:t>IC Medio</a:t>
              </a:r>
            </a:p>
          </p:txBody>
        </p:sp>
        <p:sp>
          <p:nvSpPr>
            <p:cNvPr id="27" name="Bar 27"/>
            <p:cNvSpPr/>
            <p:nvPr/>
          </p:nvSpPr>
          <p:spPr>
            <a:xfrm>
              <a:off x="3733800" y="2819400"/>
              <a:ext cx="1676400" cy="38100"/>
            </a:xfrm>
            <a:prstGeom prst="roundRect">
              <a:avLst>
                <a:gd name="adj" fmla="val 50000"/>
              </a:avLst>
            </a:prstGeom>
            <a:solidFill>
              <a:srgbClr val="E67E22"/>
            </a:solidFill>
            <a:ln w="0"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8" name="KPI Card 28"/>
            <p:cNvSpPr/>
            <p:nvPr/>
          </p:nvSpPr>
          <p:spPr>
            <a:xfrm>
              <a:off x="5613400" y="2819400"/>
              <a:ext cx="1778000" cy="1397000"/>
            </a:xfrm>
            <a:prstGeom prst="roundRect">
              <a:avLst>
                <a:gd name="adj" fmla="val 8000"/>
              </a:avLst>
            </a:prstGeom>
            <a:solidFill>
              <a:srgbClr val="F5F5F5"/>
            </a:solidFill>
            <a:ln w="0">
              <a:noFill/>
            </a:ln>
          </p:spPr>
          <p:txBody>
            <a:bodyPr wrap="square" lIns="54000" tIns="72000" rIns="54000" bIns="36000" anchor="ctr" anchorCtr="0"/>
            <a:lstStyle/>
            <a:p>
              <a:pPr algn="ctr"/>
              <a:r>
                <a:rPr lang="es-ES" sz="2200" b="1" dirty="0">
                  <a:solidFill>
                    <a:srgbClr val="A5A5A5"/>
                  </a:solidFill>
                  <a:latin typeface="Calibri Light"/>
                </a:rPr>
                <a:t>50.46%</a:t>
              </a:r>
            </a:p>
            <a:p>
              <a:pPr algn="ctr">
                <a:spcBef>
                  <a:spcPts val="200"/>
                </a:spcBef>
              </a:pPr>
              <a:r>
                <a:rPr lang="es-ES" sz="1000" dirty="0">
                  <a:solidFill>
                    <a:srgbClr val="666666"/>
                  </a:solidFill>
                  <a:latin typeface="Calibri Light"/>
                </a:rPr>
                <a:t>Accuracy</a:t>
              </a:r>
            </a:p>
          </p:txBody>
        </p:sp>
        <p:sp>
          <p:nvSpPr>
            <p:cNvPr id="30" name="Bar 30"/>
            <p:cNvSpPr/>
            <p:nvPr/>
          </p:nvSpPr>
          <p:spPr>
            <a:xfrm>
              <a:off x="5664200" y="2819400"/>
              <a:ext cx="1676400" cy="38100"/>
            </a:xfrm>
            <a:prstGeom prst="roundRect">
              <a:avLst>
                <a:gd name="adj" fmla="val 50000"/>
              </a:avLst>
            </a:prstGeom>
            <a:solidFill>
              <a:srgbClr val="A5A5A5"/>
            </a:solidFill>
            <a:ln w="0">
              <a:noFill/>
            </a:ln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31" name="Summary"/>
          <p:cNvSpPr txBox="1"/>
          <p:nvPr/>
        </p:nvSpPr>
        <p:spPr>
          <a:xfrm>
            <a:off x="1752600" y="5740400"/>
            <a:ext cx="5638800" cy="635000"/>
          </a:xfrm>
          <a:prstGeom prst="rect">
            <a:avLst/>
          </a:prstGeom>
          <a:noFill/>
          <a:ln w="0">
            <a:noFill/>
          </a:ln>
        </p:spPr>
        <p:txBody>
          <a:bodyPr wrap="square" anchor="ctr"/>
          <a:lstStyle/>
          <a:p>
            <a:pPr algn="ctr"/>
            <a:r>
              <a:rPr lang="es-ES" sz="1200" i="1" dirty="0">
                <a:solidFill>
                  <a:srgbClr val="888888"/>
                </a:solidFill>
                <a:latin typeface="Calibri Light"/>
              </a:rPr>
              <a:t>Periodo de test: 236 días — El modelo no genera alpha en el mercado estadounidense</a:t>
            </a:r>
          </a:p>
        </p:txBody>
      </p:sp>
      <p:sp>
        <p:nvSpPr>
          <p:cNvPr id="32" name="AccentLine"/>
          <p:cNvSpPr/>
          <p:nvPr/>
        </p:nvSpPr>
        <p:spPr>
          <a:xfrm>
            <a:off x="927100" y="1117600"/>
            <a:ext cx="7289800" cy="25400"/>
          </a:xfrm>
          <a:prstGeom prst="rect">
            <a:avLst/>
          </a:prstGeom>
          <a:solidFill>
            <a:srgbClr val="5B9BD5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336277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4E79"/>
                </a:solidFill>
              </a:rPr>
              <a:t>Information Coefficient (IC) Diario</a:t>
            </a:r>
          </a:p>
        </p:txBody>
      </p:sp>
      <p:pic>
        <p:nvPicPr>
          <p:cNvPr id="3" name="Picture 2" descr="ic_dai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2035712"/>
            <a:ext cx="8128000" cy="339617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CC200DD-7E0D-3248-B92A-776A5CC48FE2}"/>
              </a:ext>
            </a:extLst>
          </p:cNvPr>
          <p:cNvSpPr/>
          <p:nvPr/>
        </p:nvSpPr>
        <p:spPr>
          <a:xfrm>
            <a:off x="927100" y="1117600"/>
            <a:ext cx="7289800" cy="25400"/>
          </a:xfrm>
          <a:prstGeom prst="rect">
            <a:avLst/>
          </a:prstGeom>
          <a:solidFill>
            <a:srgbClr val="5B9BD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E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4E79"/>
                </a:solidFill>
              </a:rPr>
              <a:t>Drawdown y Distribución de Retornos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CF8A966-9DA1-9079-4408-B0B4927CC328}"/>
              </a:ext>
            </a:extLst>
          </p:cNvPr>
          <p:cNvGrpSpPr/>
          <p:nvPr/>
        </p:nvGrpSpPr>
        <p:grpSpPr>
          <a:xfrm>
            <a:off x="1220552" y="1267287"/>
            <a:ext cx="6702896" cy="5019212"/>
            <a:chOff x="1564127" y="1267287"/>
            <a:chExt cx="6702896" cy="5019212"/>
          </a:xfrm>
        </p:grpSpPr>
        <p:pic>
          <p:nvPicPr>
            <p:cNvPr id="3" name="Picture 2" descr="drawdown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64127" y="1267287"/>
              <a:ext cx="6702896" cy="2305729"/>
            </a:xfrm>
            <a:prstGeom prst="rect">
              <a:avLst/>
            </a:prstGeom>
          </p:spPr>
        </p:pic>
        <p:pic>
          <p:nvPicPr>
            <p:cNvPr id="4" name="Picture 3" descr="return_distribution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16156" y="3839839"/>
              <a:ext cx="6198839" cy="2446660"/>
            </a:xfrm>
            <a:prstGeom prst="rect">
              <a:avLst/>
            </a:prstGeom>
          </p:spPr>
        </p:pic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3AF98B9F-9C45-E049-B74F-23B26754FC3A}"/>
              </a:ext>
            </a:extLst>
          </p:cNvPr>
          <p:cNvSpPr/>
          <p:nvPr/>
        </p:nvSpPr>
        <p:spPr>
          <a:xfrm>
            <a:off x="927100" y="1117600"/>
            <a:ext cx="7289800" cy="25400"/>
          </a:xfrm>
          <a:prstGeom prst="rect">
            <a:avLst/>
          </a:prstGeom>
          <a:solidFill>
            <a:srgbClr val="5B9BD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E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Comparativa con Modelo Original</a:t>
            </a:r>
          </a:p>
        </p:txBody>
      </p:sp>
      <p:pic>
        <p:nvPicPr>
          <p:cNvPr id="4" name="Graphic 4" descr="Comparison section ic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0" y="2032000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4560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4E79"/>
                </a:solidFill>
              </a:rPr>
              <a:t>Comparativa: Original vs S&amp;P 500</a:t>
            </a:r>
          </a:p>
        </p:txBody>
      </p:sp>
      <p:pic>
        <p:nvPicPr>
          <p:cNvPr id="3" name="Picture 2" descr="comparison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2037668"/>
            <a:ext cx="8128000" cy="339226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EAD2DF9-964C-1B4F-87FF-0C8C59D08301}"/>
              </a:ext>
            </a:extLst>
          </p:cNvPr>
          <p:cNvSpPr/>
          <p:nvPr/>
        </p:nvSpPr>
        <p:spPr>
          <a:xfrm>
            <a:off x="927100" y="1117600"/>
            <a:ext cx="7289800" cy="25400"/>
          </a:xfrm>
          <a:prstGeom prst="rect">
            <a:avLst/>
          </a:prstGeom>
          <a:solidFill>
            <a:srgbClr val="5B9BD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E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4E79"/>
                </a:solidFill>
              </a:rPr>
              <a:t>Análisis de la Brecha de Rendimiento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>
              <a:spcBef>
                <a:spcPts val="4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333333"/>
                </a:solidFill>
              </a:rPr>
              <a:t>Eficiencia del mercado: </a:t>
            </a:r>
            <a:r>
              <a:rPr sz="1400">
                <a:solidFill>
                  <a:srgbClr val="333333"/>
                </a:solidFill>
              </a:rPr>
              <a:t>El S&amp;P 500 es mucho más eficiente que los mercados chinos → menor alpha explotable por modelos de ML.</a:t>
            </a:r>
          </a:p>
          <a:p>
            <a:pPr>
              <a:spcBef>
                <a:spcPts val="4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333333"/>
                </a:solidFill>
              </a:rPr>
              <a:t>Señal vs ruido: </a:t>
            </a:r>
            <a:r>
              <a:rPr sz="1400">
                <a:solidFill>
                  <a:srgbClr val="333333"/>
                </a:solidFill>
              </a:rPr>
              <a:t>IC ≈ 0 sugiere que los factores Alpha360 no capturan señal predictiva en EEUU como en China.</a:t>
            </a:r>
          </a:p>
          <a:p>
            <a:pPr>
              <a:spcBef>
                <a:spcPts val="4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333333"/>
                </a:solidFill>
              </a:rPr>
              <a:t>Beta dominante: </a:t>
            </a:r>
            <a:r>
              <a:rPr sz="1400">
                <a:solidFill>
                  <a:srgbClr val="333333"/>
                </a:solidFill>
              </a:rPr>
              <a:t>Con beta=1.33, la cartera amplifica el mercado sin generar retorno diferencial.</a:t>
            </a:r>
          </a:p>
          <a:p>
            <a:pPr>
              <a:spcBef>
                <a:spcPts val="4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333333"/>
                </a:solidFill>
              </a:rPr>
              <a:t>Estrategia solo-larga: </a:t>
            </a:r>
            <a:r>
              <a:rPr sz="1400">
                <a:solidFill>
                  <a:srgbClr val="333333"/>
                </a:solidFill>
              </a:rPr>
              <a:t>Comprar Top-10 no permite explotar las predicciones negativas del modelo sobre otras acciones.</a:t>
            </a:r>
          </a:p>
          <a:p>
            <a:pPr>
              <a:spcBef>
                <a:spcPts val="4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1F4E79"/>
                </a:solidFill>
              </a:rPr>
              <a:t>Hipótesis: </a:t>
            </a:r>
            <a:r>
              <a:rPr sz="1400">
                <a:solidFill>
                  <a:srgbClr val="1F4E79"/>
                </a:solidFill>
              </a:rPr>
              <a:t>Una estrategia long-short podría aislar el alpha del modelo, reducir beta y capturar valor en ambas direcciones.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3BB3C2-83D1-4449-A189-80FA174C69C7}"/>
              </a:ext>
            </a:extLst>
          </p:cNvPr>
          <p:cNvSpPr/>
          <p:nvPr/>
        </p:nvSpPr>
        <p:spPr>
          <a:xfrm>
            <a:off x="927100" y="1117600"/>
            <a:ext cx="7289800" cy="25400"/>
          </a:xfrm>
          <a:prstGeom prst="rect">
            <a:avLst/>
          </a:prstGeom>
          <a:solidFill>
            <a:srgbClr val="5B9BD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E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245F68-C59D-E740-8ADC-45B9A057347A}"/>
              </a:ext>
            </a:extLst>
          </p:cNvPr>
          <p:cNvSpPr/>
          <p:nvPr/>
        </p:nvSpPr>
        <p:spPr>
          <a:xfrm>
            <a:off x="825500" y="1270000"/>
            <a:ext cx="38100" cy="4826000"/>
          </a:xfrm>
          <a:prstGeom prst="rect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8893751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Nueva Estrategia: Long-Short</a:t>
            </a:r>
          </a:p>
        </p:txBody>
      </p:sp>
      <p:pic>
        <p:nvPicPr>
          <p:cNvPr id="4" name="Graphic 4" descr="Long-short strategy section ic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0" y="2032000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0396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4E79"/>
                </a:solidFill>
              </a:rPr>
              <a:t>Estrategia Long-Short Propuesta</a:t>
            </a:r>
          </a:p>
        </p:txBody>
      </p:sp>
      <p:pic>
        <p:nvPicPr>
          <p:cNvPr id="3" name="Picture 2" descr="long_sh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886527"/>
            <a:ext cx="8128000" cy="369454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E7451E5-7344-5E48-9E46-A217656EC15B}"/>
              </a:ext>
            </a:extLst>
          </p:cNvPr>
          <p:cNvSpPr/>
          <p:nvPr/>
        </p:nvSpPr>
        <p:spPr>
          <a:xfrm>
            <a:off x="927100" y="1117600"/>
            <a:ext cx="7289800" cy="25400"/>
          </a:xfrm>
          <a:prstGeom prst="rect">
            <a:avLst/>
          </a:prstGeom>
          <a:solidFill>
            <a:srgbClr val="5B9BD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E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4E79"/>
                </a:solidFill>
              </a:rPr>
              <a:t>Implementación de la Estrategia Long-Short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>
              <a:spcBef>
                <a:spcPts val="4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333333"/>
                </a:solidFill>
              </a:rPr>
              <a:t>Concepto: </a:t>
            </a:r>
            <a:r>
              <a:rPr sz="1300">
                <a:solidFill>
                  <a:srgbClr val="333333"/>
                </a:solidFill>
              </a:rPr>
              <a:t>Comprar Top-N acciones (señal positiva) + Vender en corto Bottom-N (señal negativa), igual peso.</a:t>
            </a:r>
          </a:p>
          <a:p>
            <a:pPr>
              <a:spcBef>
                <a:spcPts val="4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333333"/>
                </a:solidFill>
              </a:rPr>
              <a:t>Neutralidad de mercado: </a:t>
            </a:r>
            <a:r>
              <a:rPr sz="1300">
                <a:solidFill>
                  <a:srgbClr val="333333"/>
                </a:solidFill>
              </a:rPr>
              <a:t>Beta objetivo ≈ 0. El retorno depende solo de la calidad del ranking, no de la dirección del mercado.</a:t>
            </a:r>
          </a:p>
          <a:p>
            <a:pPr>
              <a:spcBef>
                <a:spcPts val="4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333333"/>
                </a:solidFill>
              </a:rPr>
              <a:t>Métricas esperadas: </a:t>
            </a:r>
            <a:r>
              <a:rPr sz="1300">
                <a:solidFill>
                  <a:srgbClr val="333333"/>
                </a:solidFill>
              </a:rPr>
              <a:t>Si el modelo tiene alguna señal, el spread long-short debería tener IC &gt; 0 y Sharpe &gt; 0.</a:t>
            </a:r>
          </a:p>
          <a:p>
            <a:pPr>
              <a:spcBef>
                <a:spcPts val="4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333333"/>
                </a:solidFill>
              </a:rPr>
              <a:t>Implementación: </a:t>
            </a:r>
            <a:r>
              <a:rPr sz="1300">
                <a:solidFill>
                  <a:srgbClr val="333333"/>
                </a:solidFill>
              </a:rPr>
              <a:t>Modificar run_backtest.py: añadir posiciones cortas con peso -1/N, calcular retorno neto del spread.</a:t>
            </a:r>
          </a:p>
          <a:p>
            <a:pPr>
              <a:spcBef>
                <a:spcPts val="4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333333"/>
                </a:solidFill>
              </a:rPr>
              <a:t>Costes adicionales: </a:t>
            </a:r>
            <a:r>
              <a:rPr sz="1300">
                <a:solidFill>
                  <a:srgbClr val="333333"/>
                </a:solidFill>
              </a:rPr>
              <a:t>Considerar coste de préstamo (borrow cost ~1-3% anual) y restricciones de short-selling.</a:t>
            </a:r>
          </a:p>
          <a:p>
            <a:pPr>
              <a:spcBef>
                <a:spcPts val="4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333333"/>
                </a:solidFill>
              </a:rPr>
              <a:t>Validación: </a:t>
            </a:r>
            <a:r>
              <a:rPr sz="1300">
                <a:solidFill>
                  <a:srgbClr val="333333"/>
                </a:solidFill>
              </a:rPr>
              <a:t>Comparar Sharpe, drawdown y alpha de la estrategia long-short vs solo-larga vs SPY.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D1ACC3-A1F3-104D-A3EE-EEBEC6FB860D}"/>
              </a:ext>
            </a:extLst>
          </p:cNvPr>
          <p:cNvSpPr/>
          <p:nvPr/>
        </p:nvSpPr>
        <p:spPr>
          <a:xfrm>
            <a:off x="927100" y="1117600"/>
            <a:ext cx="7289800" cy="25400"/>
          </a:xfrm>
          <a:prstGeom prst="rect">
            <a:avLst/>
          </a:prstGeom>
          <a:solidFill>
            <a:srgbClr val="5B9BD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E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C113B3-E005-6340-867E-1A672A4BD570}"/>
              </a:ext>
            </a:extLst>
          </p:cNvPr>
          <p:cNvSpPr/>
          <p:nvPr/>
        </p:nvSpPr>
        <p:spPr>
          <a:xfrm>
            <a:off x="825500" y="1270000"/>
            <a:ext cx="38100" cy="4826000"/>
          </a:xfrm>
          <a:prstGeom prst="rect">
            <a:avLst/>
          </a:prstGeom>
          <a:solidFill>
            <a:srgbClr val="5B9BD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8102993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Cronograma y Próximos Pasos</a:t>
            </a:r>
          </a:p>
        </p:txBody>
      </p:sp>
      <p:pic>
        <p:nvPicPr>
          <p:cNvPr id="4" name="Graphic 4" descr="Schedule/timeline section ic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0" y="2032000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3424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4E79"/>
                </a:solidFill>
              </a:rPr>
              <a:t>Cronograma del Proyecto (Anexo B)</a:t>
            </a:r>
          </a:p>
        </p:txBody>
      </p:sp>
      <p:pic>
        <p:nvPicPr>
          <p:cNvPr id="3" name="Picture 2" descr="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2044648"/>
            <a:ext cx="8128000" cy="337830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E7FBC64-BA6D-C44B-A76C-22C5A384AF84}"/>
              </a:ext>
            </a:extLst>
          </p:cNvPr>
          <p:cNvSpPr/>
          <p:nvPr/>
        </p:nvSpPr>
        <p:spPr>
          <a:xfrm>
            <a:off x="927100" y="1117600"/>
            <a:ext cx="7289800" cy="25400"/>
          </a:xfrm>
          <a:prstGeom prst="rect">
            <a:avLst/>
          </a:prstGeom>
          <a:solidFill>
            <a:srgbClr val="5B9BD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E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4E79"/>
                </a:solidFill>
              </a:rPr>
              <a:t>Estado General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>
              <a:spcBef>
                <a:spcPts val="400"/>
              </a:spcBef>
              <a:spcAft>
                <a:spcPts val="300"/>
              </a:spcAft>
              <a:buNone/>
            </a:pPr>
            <a:r>
              <a:rPr sz="1400" b="1" dirty="0" err="1">
                <a:solidFill>
                  <a:srgbClr val="2E7D32"/>
                </a:solidFill>
              </a:rPr>
              <a:t>Fases</a:t>
            </a:r>
            <a:r>
              <a:rPr sz="1400" b="1" dirty="0">
                <a:solidFill>
                  <a:srgbClr val="2E7D32"/>
                </a:solidFill>
              </a:rPr>
              <a:t> 1-2 (Estudio + Datos): </a:t>
            </a:r>
            <a:r>
              <a:rPr sz="1400" dirty="0">
                <a:solidFill>
                  <a:srgbClr val="2E7D32"/>
                </a:solidFill>
              </a:rPr>
              <a:t>COMPLETADAS — Modelo </a:t>
            </a:r>
            <a:r>
              <a:rPr sz="1400" dirty="0" err="1">
                <a:solidFill>
                  <a:srgbClr val="2E7D32"/>
                </a:solidFill>
              </a:rPr>
              <a:t>analizado</a:t>
            </a:r>
            <a:r>
              <a:rPr sz="1400" dirty="0">
                <a:solidFill>
                  <a:srgbClr val="2E7D32"/>
                </a:solidFill>
              </a:rPr>
              <a:t>, pipeline S&amp;P 500 </a:t>
            </a:r>
            <a:r>
              <a:rPr sz="1400" dirty="0" err="1">
                <a:solidFill>
                  <a:srgbClr val="2E7D32"/>
                </a:solidFill>
              </a:rPr>
              <a:t>operativo</a:t>
            </a:r>
            <a:r>
              <a:rPr sz="1400" dirty="0">
                <a:solidFill>
                  <a:srgbClr val="2E7D32"/>
                </a:solidFill>
              </a:rPr>
              <a:t>.</a:t>
            </a:r>
          </a:p>
          <a:p>
            <a:pPr>
              <a:spcBef>
                <a:spcPts val="400"/>
              </a:spcBef>
              <a:spcAft>
                <a:spcPts val="300"/>
              </a:spcAft>
              <a:buNone/>
            </a:pPr>
            <a:r>
              <a:rPr sz="1400" b="1" dirty="0">
                <a:solidFill>
                  <a:srgbClr val="2E7D32"/>
                </a:solidFill>
              </a:rPr>
              <a:t>Fase 3 (</a:t>
            </a:r>
            <a:r>
              <a:rPr sz="1400" b="1" dirty="0" err="1">
                <a:solidFill>
                  <a:srgbClr val="2E7D32"/>
                </a:solidFill>
              </a:rPr>
              <a:t>Entrenamiento</a:t>
            </a:r>
            <a:r>
              <a:rPr sz="1400" b="1" dirty="0">
                <a:solidFill>
                  <a:srgbClr val="2E7D32"/>
                </a:solidFill>
              </a:rPr>
              <a:t>): </a:t>
            </a:r>
            <a:r>
              <a:rPr sz="1400" dirty="0">
                <a:solidFill>
                  <a:srgbClr val="2E7D32"/>
                </a:solidFill>
              </a:rPr>
              <a:t>COMPLETADA — Modelo </a:t>
            </a:r>
            <a:r>
              <a:rPr sz="1400" dirty="0" err="1">
                <a:solidFill>
                  <a:srgbClr val="2E7D32"/>
                </a:solidFill>
              </a:rPr>
              <a:t>entrenado</a:t>
            </a:r>
            <a:r>
              <a:rPr sz="1400" dirty="0">
                <a:solidFill>
                  <a:srgbClr val="2E7D32"/>
                </a:solidFill>
              </a:rPr>
              <a:t>, </a:t>
            </a:r>
            <a:r>
              <a:rPr sz="1400" dirty="0" err="1">
                <a:solidFill>
                  <a:srgbClr val="2E7D32"/>
                </a:solidFill>
              </a:rPr>
              <a:t>inferencia</a:t>
            </a:r>
            <a:r>
              <a:rPr sz="1400" dirty="0">
                <a:solidFill>
                  <a:srgbClr val="2E7D32"/>
                </a:solidFill>
              </a:rPr>
              <a:t> y </a:t>
            </a:r>
            <a:r>
              <a:rPr sz="1400" dirty="0" err="1">
                <a:solidFill>
                  <a:srgbClr val="2E7D32"/>
                </a:solidFill>
              </a:rPr>
              <a:t>backtesting</a:t>
            </a:r>
            <a:r>
              <a:rPr sz="1400" dirty="0">
                <a:solidFill>
                  <a:srgbClr val="2E7D32"/>
                </a:solidFill>
              </a:rPr>
              <a:t> </a:t>
            </a:r>
            <a:r>
              <a:rPr sz="1400" dirty="0" err="1">
                <a:solidFill>
                  <a:srgbClr val="2E7D32"/>
                </a:solidFill>
              </a:rPr>
              <a:t>ejecutados</a:t>
            </a:r>
            <a:r>
              <a:rPr sz="1400" dirty="0">
                <a:solidFill>
                  <a:srgbClr val="2E7D32"/>
                </a:solidFill>
              </a:rPr>
              <a:t>.</a:t>
            </a:r>
          </a:p>
          <a:p>
            <a:pPr>
              <a:spcBef>
                <a:spcPts val="400"/>
              </a:spcBef>
              <a:spcAft>
                <a:spcPts val="300"/>
              </a:spcAft>
              <a:buNone/>
            </a:pPr>
            <a:r>
              <a:rPr sz="1400" b="1" dirty="0">
                <a:solidFill>
                  <a:srgbClr val="E65100"/>
                </a:solidFill>
              </a:rPr>
              <a:t>Fase 4 (</a:t>
            </a:r>
            <a:r>
              <a:rPr sz="1400" b="1" dirty="0" err="1">
                <a:solidFill>
                  <a:srgbClr val="E65100"/>
                </a:solidFill>
              </a:rPr>
              <a:t>Interfaz</a:t>
            </a:r>
            <a:r>
              <a:rPr sz="1400" b="1" dirty="0">
                <a:solidFill>
                  <a:srgbClr val="E65100"/>
                </a:solidFill>
              </a:rPr>
              <a:t>): </a:t>
            </a:r>
            <a:r>
              <a:rPr sz="1400" dirty="0">
                <a:solidFill>
                  <a:srgbClr val="E65100"/>
                </a:solidFill>
              </a:rPr>
              <a:t>EN CURSO — </a:t>
            </a:r>
            <a:r>
              <a:rPr sz="1400" dirty="0" err="1">
                <a:solidFill>
                  <a:srgbClr val="E65100"/>
                </a:solidFill>
              </a:rPr>
              <a:t>Streamlit</a:t>
            </a:r>
            <a:r>
              <a:rPr sz="1400" dirty="0">
                <a:solidFill>
                  <a:srgbClr val="E65100"/>
                </a:solidFill>
              </a:rPr>
              <a:t> </a:t>
            </a:r>
            <a:r>
              <a:rPr sz="1400" dirty="0" err="1">
                <a:solidFill>
                  <a:srgbClr val="E65100"/>
                </a:solidFill>
              </a:rPr>
              <a:t>funcional</a:t>
            </a:r>
            <a:r>
              <a:rPr sz="1400" dirty="0">
                <a:solidFill>
                  <a:srgbClr val="E65100"/>
                </a:solidFill>
              </a:rPr>
              <a:t>, </a:t>
            </a:r>
            <a:r>
              <a:rPr sz="1400" dirty="0" err="1">
                <a:solidFill>
                  <a:srgbClr val="E65100"/>
                </a:solidFill>
              </a:rPr>
              <a:t>pendiente</a:t>
            </a:r>
            <a:r>
              <a:rPr sz="1400" dirty="0">
                <a:solidFill>
                  <a:srgbClr val="E65100"/>
                </a:solidFill>
              </a:rPr>
              <a:t> </a:t>
            </a:r>
            <a:r>
              <a:rPr sz="1400" dirty="0" err="1">
                <a:solidFill>
                  <a:srgbClr val="E65100"/>
                </a:solidFill>
              </a:rPr>
              <a:t>integrar</a:t>
            </a:r>
            <a:r>
              <a:rPr sz="1400" dirty="0">
                <a:solidFill>
                  <a:srgbClr val="E65100"/>
                </a:solidFill>
              </a:rPr>
              <a:t> long-short.</a:t>
            </a:r>
          </a:p>
          <a:p>
            <a:pPr>
              <a:spcBef>
                <a:spcPts val="400"/>
              </a:spcBef>
              <a:spcAft>
                <a:spcPts val="300"/>
              </a:spcAft>
              <a:buNone/>
            </a:pPr>
            <a:r>
              <a:rPr sz="1400" b="1" dirty="0">
                <a:solidFill>
                  <a:srgbClr val="808080"/>
                </a:solidFill>
              </a:rPr>
              <a:t>Fase 5 (</a:t>
            </a:r>
            <a:r>
              <a:rPr sz="1400" b="1" dirty="0" err="1">
                <a:solidFill>
                  <a:srgbClr val="808080"/>
                </a:solidFill>
              </a:rPr>
              <a:t>Documentación</a:t>
            </a:r>
            <a:r>
              <a:rPr sz="1400" b="1" dirty="0">
                <a:solidFill>
                  <a:srgbClr val="808080"/>
                </a:solidFill>
              </a:rPr>
              <a:t>): </a:t>
            </a:r>
            <a:r>
              <a:rPr sz="1400" dirty="0">
                <a:solidFill>
                  <a:srgbClr val="808080"/>
                </a:solidFill>
              </a:rPr>
              <a:t>PENDIENTE — </a:t>
            </a:r>
            <a:r>
              <a:rPr sz="1400" dirty="0" err="1">
                <a:solidFill>
                  <a:srgbClr val="808080"/>
                </a:solidFill>
              </a:rPr>
              <a:t>Prevista</a:t>
            </a:r>
            <a:r>
              <a:rPr sz="1400" dirty="0">
                <a:solidFill>
                  <a:srgbClr val="808080"/>
                </a:solidFill>
              </a:rPr>
              <a:t> para </a:t>
            </a:r>
            <a:r>
              <a:rPr lang="es-ES" sz="1400" dirty="0">
                <a:solidFill>
                  <a:srgbClr val="808080"/>
                </a:solidFill>
              </a:rPr>
              <a:t>Abril-</a:t>
            </a:r>
            <a:r>
              <a:rPr sz="1400" dirty="0">
                <a:solidFill>
                  <a:srgbClr val="808080"/>
                </a:solidFill>
              </a:rPr>
              <a:t>Mayo</a:t>
            </a:r>
            <a:r>
              <a:rPr lang="es-ES" sz="1400" dirty="0">
                <a:solidFill>
                  <a:srgbClr val="808080"/>
                </a:solidFill>
              </a:rPr>
              <a:t> </a:t>
            </a:r>
            <a:r>
              <a:rPr sz="1400" dirty="0">
                <a:solidFill>
                  <a:srgbClr val="808080"/>
                </a:solidFill>
              </a:rPr>
              <a:t>2026.</a:t>
            </a:r>
          </a:p>
          <a:p>
            <a:pPr>
              <a:spcBef>
                <a:spcPts val="400"/>
              </a:spcBef>
              <a:spcAft>
                <a:spcPts val="300"/>
              </a:spcAft>
              <a:buNone/>
            </a:pPr>
            <a:r>
              <a:rPr sz="1400" b="1" dirty="0" err="1">
                <a:solidFill>
                  <a:srgbClr val="1F4E79"/>
                </a:solidFill>
              </a:rPr>
              <a:t>Alineación</a:t>
            </a:r>
            <a:r>
              <a:rPr sz="1400" b="1" dirty="0">
                <a:solidFill>
                  <a:srgbClr val="1F4E79"/>
                </a:solidFill>
              </a:rPr>
              <a:t> con Anexo B: </a:t>
            </a:r>
            <a:r>
              <a:rPr sz="1400" dirty="0">
                <a:solidFill>
                  <a:srgbClr val="1F4E79"/>
                </a:solidFill>
              </a:rPr>
              <a:t>Proyecto </a:t>
            </a:r>
            <a:r>
              <a:rPr sz="1400" dirty="0" err="1">
                <a:solidFill>
                  <a:srgbClr val="1F4E79"/>
                </a:solidFill>
              </a:rPr>
              <a:t>dentro</a:t>
            </a:r>
            <a:r>
              <a:rPr sz="1400" dirty="0">
                <a:solidFill>
                  <a:srgbClr val="1F4E79"/>
                </a:solidFill>
              </a:rPr>
              <a:t> del </a:t>
            </a:r>
            <a:r>
              <a:rPr sz="1400" dirty="0" err="1">
                <a:solidFill>
                  <a:srgbClr val="1F4E79"/>
                </a:solidFill>
              </a:rPr>
              <a:t>cronograma</a:t>
            </a:r>
            <a:r>
              <a:rPr sz="1400" dirty="0">
                <a:solidFill>
                  <a:srgbClr val="1F4E79"/>
                </a:solidFill>
              </a:rPr>
              <a:t>. La </a:t>
            </a:r>
            <a:r>
              <a:rPr sz="1400" dirty="0" err="1">
                <a:solidFill>
                  <a:srgbClr val="1F4E79"/>
                </a:solidFill>
              </a:rPr>
              <a:t>nueva</a:t>
            </a:r>
            <a:r>
              <a:rPr sz="1400" dirty="0">
                <a:solidFill>
                  <a:srgbClr val="1F4E79"/>
                </a:solidFill>
              </a:rPr>
              <a:t> </a:t>
            </a:r>
            <a:r>
              <a:rPr sz="1400" dirty="0" err="1">
                <a:solidFill>
                  <a:srgbClr val="1F4E79"/>
                </a:solidFill>
              </a:rPr>
              <a:t>estrategia</a:t>
            </a:r>
            <a:r>
              <a:rPr sz="1400" dirty="0">
                <a:solidFill>
                  <a:srgbClr val="1F4E79"/>
                </a:solidFill>
              </a:rPr>
              <a:t> long-short es </a:t>
            </a:r>
            <a:r>
              <a:rPr sz="1400" dirty="0" err="1">
                <a:solidFill>
                  <a:srgbClr val="1F4E79"/>
                </a:solidFill>
              </a:rPr>
              <a:t>una</a:t>
            </a:r>
            <a:r>
              <a:rPr sz="1400" dirty="0">
                <a:solidFill>
                  <a:srgbClr val="1F4E79"/>
                </a:solidFill>
              </a:rPr>
              <a:t> </a:t>
            </a:r>
            <a:r>
              <a:rPr sz="1400" dirty="0" err="1">
                <a:solidFill>
                  <a:srgbClr val="1F4E79"/>
                </a:solidFill>
              </a:rPr>
              <a:t>aportación</a:t>
            </a:r>
            <a:r>
              <a:rPr sz="1400" dirty="0">
                <a:solidFill>
                  <a:srgbClr val="1F4E79"/>
                </a:solidFill>
              </a:rPr>
              <a:t> </a:t>
            </a:r>
            <a:r>
              <a:rPr sz="1400" dirty="0" err="1">
                <a:solidFill>
                  <a:srgbClr val="1F4E79"/>
                </a:solidFill>
              </a:rPr>
              <a:t>adicional</a:t>
            </a:r>
            <a:r>
              <a:rPr sz="1400" dirty="0">
                <a:solidFill>
                  <a:srgbClr val="1F4E79"/>
                </a:solidFill>
              </a:rPr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39AFF8-E072-9F4E-95FD-4643FE897A74}"/>
              </a:ext>
            </a:extLst>
          </p:cNvPr>
          <p:cNvSpPr/>
          <p:nvPr/>
        </p:nvSpPr>
        <p:spPr>
          <a:xfrm>
            <a:off x="927100" y="1117600"/>
            <a:ext cx="7289800" cy="25400"/>
          </a:xfrm>
          <a:prstGeom prst="rect">
            <a:avLst/>
          </a:prstGeom>
          <a:solidFill>
            <a:srgbClr val="5B9BD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E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762BDD-C502-6F41-91D5-748BC7BD9ABA}"/>
              </a:ext>
            </a:extLst>
          </p:cNvPr>
          <p:cNvSpPr/>
          <p:nvPr/>
        </p:nvSpPr>
        <p:spPr>
          <a:xfrm>
            <a:off x="825500" y="1270000"/>
            <a:ext cx="38100" cy="48260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665733916"/>
      </p:ext>
    </p:extLst>
  </p:cSld>
  <p:clrMapOvr>
    <a:masterClrMapping/>
  </p:clrMapOvr>
</p:sld>
</file>

<file path=ppt/theme/theme1.xml><?xml version="1.0" encoding="utf-8"?>
<a:theme xmlns:a="http://schemas.openxmlformats.org/drawingml/2006/main" name="AnalisisPreliminarIIT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tron ICAI" id="{FE90A36C-7B08-4C56-A16B-46D85B16C124}" vid="{2DA1B88E-F612-417B-BAC2-700C90BC7A0B}"/>
    </a:ext>
  </a:extLst>
</a:theme>
</file>

<file path=ppt/theme/theme2.xml><?xml version="1.0" encoding="utf-8"?>
<a:theme xmlns:a="http://schemas.openxmlformats.org/drawingml/2006/main" name="AnalisisPreliminarIIT [1774352821007]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tron ICAI" id="{FE90A36C-7B08-4C56-A16B-46D85B16C124}" vid="{2DA1B88E-F612-417B-BAC2-700C90BC7A0B}"/>
    </a:ext>
  </a:extLst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069C45A-E021-D642-B2F5-6284AB6C418E}">
  <we:reference id="wa200010001" version="1.0.0.1" store="en-US" storeType="OMEX"/>
  <we:alternateReferences>
    <we:reference id="WA200010001" version="1.0.0.1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CC76C4A95B3B04A89FD25958FF911B1" ma:contentTypeVersion="4" ma:contentTypeDescription="Crear nuevo documento." ma:contentTypeScope="" ma:versionID="92561f9821f04e209362c7d0cd0d7c34">
  <xsd:schema xmlns:xsd="http://www.w3.org/2001/XMLSchema" xmlns:xs="http://www.w3.org/2001/XMLSchema" xmlns:p="http://schemas.microsoft.com/office/2006/metadata/properties" xmlns:ns2="4602cd45-3de6-4977-bad0-3d2d2e366396" xmlns:ns3="920f9b03-bbea-4400-bacc-6d64224da6d2" targetNamespace="http://schemas.microsoft.com/office/2006/metadata/properties" ma:root="true" ma:fieldsID="72090c88daa195022fe7c92515fad49a" ns2:_="" ns3:_="">
    <xsd:import namespace="4602cd45-3de6-4977-bad0-3d2d2e366396"/>
    <xsd:import namespace="920f9b03-bbea-4400-bacc-6d64224da6d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02cd45-3de6-4977-bad0-3d2d2e3663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0f9b03-bbea-4400-bacc-6d64224da6d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65C06F2-6811-4915-8A08-5BDC663684E5}">
  <ds:schemaRefs>
    <ds:schemaRef ds:uri="http://schemas.microsoft.com/office/2006/documentManagement/types"/>
    <ds:schemaRef ds:uri="bc7df76d-1ee4-4d78-a88e-68f95700b072"/>
    <ds:schemaRef ds:uri="http://purl.org/dc/elements/1.1/"/>
    <ds:schemaRef ds:uri="http://schemas.microsoft.com/office/2006/metadata/properties"/>
    <ds:schemaRef ds:uri="http://schemas.microsoft.com/sharepoint/v3"/>
    <ds:schemaRef ds:uri="http://purl.org/dc/terms/"/>
    <ds:schemaRef ds:uri="http://schemas.openxmlformats.org/package/2006/metadata/core-properties"/>
    <ds:schemaRef ds:uri="4c902c7f-9db5-41e6-a829-9da83e17d0aa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42492B8F-ED6F-42A2-9F38-8476379243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602cd45-3de6-4977-bad0-3d2d2e366396"/>
    <ds:schemaRef ds:uri="920f9b03-bbea-4400-bacc-6d64224da6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F695B4F-A284-40CE-A208-D76DF565254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253</TotalTime>
  <Words>4909</Words>
  <Application>Microsoft Macintosh PowerPoint</Application>
  <PresentationFormat>On-screen Show (4:3)</PresentationFormat>
  <Paragraphs>340</Paragraphs>
  <Slides>31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Calibri</vt:lpstr>
      <vt:lpstr>Calibri Light</vt:lpstr>
      <vt:lpstr>Optima</vt:lpstr>
      <vt:lpstr>Wingdings</vt:lpstr>
      <vt:lpstr>AnalisisPreliminarIIT</vt:lpstr>
      <vt:lpstr>AnalisisPreliminarIIT [1774352821007]</vt:lpstr>
      <vt:lpstr>Seguimiento TFM</vt:lpstr>
      <vt:lpstr>Agenda</vt:lpstr>
      <vt:lpstr>1</vt:lpstr>
      <vt:lpstr>Motivación y Objetivos</vt:lpstr>
      <vt:lpstr>¿Qué es Stockformer?</vt:lpstr>
      <vt:lpstr>2</vt:lpstr>
      <vt:lpstr>Arquitectura del Modelo (Ma et al., 2025)</vt:lpstr>
      <vt:lpstr>Decoupling Flow Layer: DWT</vt:lpstr>
      <vt:lpstr>Codificador Espaciotemporal Dual</vt:lpstr>
      <vt:lpstr>Grafos Temporales y Struc2Vec</vt:lpstr>
      <vt:lpstr>Pipeline End-to-End</vt:lpstr>
      <vt:lpstr>Factores Alpha360</vt:lpstr>
      <vt:lpstr>Configuración del Modelo y Datos</vt:lpstr>
      <vt:lpstr>Rolling Window (Entrenamiento Original)</vt:lpstr>
      <vt:lpstr>3</vt:lpstr>
      <vt:lpstr>Diferencias Clave: China vs S&amp;P 500</vt:lpstr>
      <vt:lpstr>Desafíos en el Pipeline de Datos</vt:lpstr>
      <vt:lpstr>4</vt:lpstr>
      <vt:lpstr>Curva de Equity: Cartera vs SPY</vt:lpstr>
      <vt:lpstr>Métricas del Backtesting (236 días test)</vt:lpstr>
      <vt:lpstr>Information Coefficient (IC) Diario</vt:lpstr>
      <vt:lpstr>Drawdown y Distribución de Retornos</vt:lpstr>
      <vt:lpstr>5</vt:lpstr>
      <vt:lpstr>Comparativa: Original vs S&amp;P 500</vt:lpstr>
      <vt:lpstr>Análisis de la Brecha de Rendimiento</vt:lpstr>
      <vt:lpstr>6</vt:lpstr>
      <vt:lpstr>Estrategia Long-Short Propuesta</vt:lpstr>
      <vt:lpstr>Implementación de la Estrategia Long-Short</vt:lpstr>
      <vt:lpstr>7</vt:lpstr>
      <vt:lpstr>Cronograma del Proyecto (Anexo B)</vt:lpstr>
      <vt:lpstr>Estado General del Proyecto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Asignatura… Tema 1: título del tema 1</dc:title>
  <dc:creator>Pablo Frias</dc:creator>
  <cp:keywords>transformadores</cp:keywords>
  <cp:lastModifiedBy>Gonzalo Alonso Lidón</cp:lastModifiedBy>
  <cp:revision>5</cp:revision>
  <cp:lastPrinted>2014-09-02T23:13:43Z</cp:lastPrinted>
  <dcterms:created xsi:type="dcterms:W3CDTF">2019-08-26T13:37:00Z</dcterms:created>
  <dcterms:modified xsi:type="dcterms:W3CDTF">2026-03-24T15:21:01Z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0x0101006CC76C4A95B3B04A89FD25958FF911B1</vt:lpwstr>
  </property>
</Properties>
</file>